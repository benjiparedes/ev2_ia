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Efecto por 1 DE (US$)</c:v>
                </c:pt>
              </c:strCache>
            </c:strRef>
          </c:tx>
          <c:spPr>
            <a:solidFill>
              <a:srgbClr val="1B7F79"/>
            </a:solidFill>
            <a:effectLst/>
          </c:spPr>
          <c:invertIfNegative val="0"/>
          <c:dLbls>
            <c:numFmt formatCode="+0;-0" sourceLinked="0"/>
            <c:txPr>
              <a:bodyPr/>
              <a:lstStyle/>
              <a:p>
                <a:pPr>
                  <a:defRPr b="1" i="0" strike="noStrike" sz="1200" u="none">
                    <a:solidFill>
                      <a:srgbClr val="1F2A2E"/>
                    </a:solidFill>
                    <a:latin typeface="Calibri"/>
                  </a:defRPr>
                </a:pPr>
              </a:p>
            </c:txPr>
            <c:showLegendKey val="0"/>
            <c:showVal val="1"/>
            <c:showCatName val="0"/>
            <c:showSerName val="0"/>
            <c:showPercent val="0"/>
            <c:showBubbleSize val="0"/>
            <c:showLeaderLines val="0"/>
          </c:dLbls>
          <c:dPt>
            <c:idx val="0"/>
            <c:invertIfNegative val="0"/>
            <c:bubble3D val="0"/>
            <c:spPr>
              <a:solidFill>
                <a:srgbClr val="1B7F79"/>
              </a:solidFill>
              <a:effectLst/>
            </c:spPr>
          </c:dPt>
          <c:dPt>
            <c:idx val="1"/>
            <c:invertIfNegative val="0"/>
            <c:bubble3D val="0"/>
            <c:spPr>
              <a:solidFill>
                <a:srgbClr val="1B7F79"/>
              </a:solidFill>
              <a:effectLst/>
            </c:spPr>
          </c:dPt>
          <c:dPt>
            <c:idx val="2"/>
            <c:invertIfNegative val="0"/>
            <c:bubble3D val="0"/>
            <c:spPr>
              <a:solidFill>
                <a:srgbClr val="1B7F79"/>
              </a:solidFill>
              <a:effectLst/>
            </c:spPr>
          </c:dPt>
          <c:dPt>
            <c:idx val="3"/>
            <c:invertIfNegative val="0"/>
            <c:bubble3D val="0"/>
            <c:spPr>
              <a:solidFill>
                <a:srgbClr val="1B7F79"/>
              </a:solidFill>
              <a:effectLst/>
            </c:spPr>
          </c:dPt>
          <c:dPt>
            <c:idx val="4"/>
            <c:invertIfNegative val="0"/>
            <c:bubble3D val="0"/>
            <c:spPr>
              <a:solidFill>
                <a:srgbClr val="1B7F79"/>
              </a:solidFill>
              <a:effectLst/>
            </c:spPr>
          </c:dPt>
          <c:dPt>
            <c:idx val="5"/>
            <c:invertIfNegative val="0"/>
            <c:bubble3D val="0"/>
            <c:spPr>
              <a:solidFill>
                <a:srgbClr val="1B7F79"/>
              </a:solidFill>
              <a:effectLst/>
            </c:spPr>
          </c:dPt>
          <c:dPt>
            <c:idx val="6"/>
            <c:invertIfNegative val="0"/>
            <c:bubble3D val="0"/>
            <c:spPr>
              <a:solidFill>
                <a:srgbClr val="D9534F"/>
              </a:solidFill>
              <a:effectLst/>
            </c:spPr>
          </c:dPt>
          <c:cat>
            <c:multiLvlStrRef>
              <c:f>Sheet1!$A$2:$A$8</c:f>
              <c:multiLvlStrCache>
                <c:ptCount val="7"/>
                <c:lvl>
                  <c:pt idx="0">
                    <c:v>Tamaño de empresa</c:v>
                  </c:pt>
                  <c:pt idx="1">
                    <c:v>Sesiones de uso mensuales</c:v>
                  </c:pt>
                  <c:pt idx="2">
                    <c:v>Duración del contrato</c:v>
                  </c:pt>
                  <c:pt idx="3">
                    <c:v>Puntualidad de pago</c:v>
                  </c:pt>
                  <c:pt idx="4">
                    <c:v>Satisfacción (NPS)</c:v>
                  </c:pt>
                  <c:pt idx="5">
                    <c:v>Gasto de marketing</c:v>
                  </c:pt>
                  <c:pt idx="6">
                    <c:v>Tickets de soporte</c:v>
                  </c:pt>
                </c:lvl>
              </c:multiLvlStrCache>
            </c:multiLvlStrRef>
          </c:cat>
          <c:val>
            <c:numRef>
              <c:f>Sheet1!$B$2:$B$8</c:f>
              <c:numCache>
                <c:formatCode>General</c:formatCode>
                <c:ptCount val="7"/>
                <c:pt idx="0">
                  <c:v>236</c:v>
                </c:pt>
                <c:pt idx="1">
                  <c:v>175</c:v>
                </c:pt>
                <c:pt idx="2">
                  <c:v>86</c:v>
                </c:pt>
                <c:pt idx="3">
                  <c:v>81</c:v>
                </c:pt>
                <c:pt idx="4">
                  <c:v>48</c:v>
                </c:pt>
                <c:pt idx="5">
                  <c:v>33</c:v>
                </c:pt>
                <c:pt idx="6">
                  <c:v>-29</c:v>
                </c:pt>
              </c:numCache>
            </c:numRef>
          </c:val>
        </c:ser>
        <c:dLbls>
          <c:numFmt formatCode="+0;-0" sourceLinked="0"/>
          <c:txPr>
            <a:bodyPr/>
            <a:lstStyle/>
            <a:p>
              <a:pPr>
                <a:defRPr b="1" i="0" strike="noStrike" sz="1200" u="none">
                  <a:solidFill>
                    <a:srgbClr val="1F2A2E"/>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2E"/>
                </a:solidFill>
                <a:latin typeface="Calibri"/>
              </a:defRPr>
            </a:pPr>
            <a:endParaRPr lang="en-US"/>
          </a:p>
        </c:txPr>
        <c:crossAx val="2094734552"/>
        <c:crosses val="autoZero"/>
        <c:auto val="1"/>
        <c:lblAlgn val="ctr"/>
        <c:noMultiLvlLbl val="1"/>
      </c:catAx>
      <c:valAx>
        <c:axId val="2094734552"/>
        <c:scaling>
          <c:orientation val="minMax"/>
          <c:max val="290"/>
          <c:min val="-7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es doble: retención y proyección de ingresos. Hoy no podemos proyectar con confianza el MRR del próximo trimestre ni anticipar qué cuentas aportarán menos. El modelo predice el NIVEL de MRR de cada cliente (no detecta caídas por sí solo). El ejemplo de US$213 mil es un supuesto ilustrativo para dar escala: cartera ≈ US$21,3 M (30.000 × US$711); cada 1% de ese ingreso ≈ US$213 mil.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Estado inicial: tres variables con valores faltantes (NPS 11,99%, tickets 8,21%, uso mensual 5,15%). Valores atípicos en uso mensual (≈4,6% de clientes) y MRR (≈2%): se conservan porque son comportamiento real. El uso mensual es muy asimétrico (sesgo ≈1,97); el MRR tiene sesgo moderado (≈1,05). Preparación técnica (para la defensa): mediana para uso mensual y valor más frecuente para tickets y NPS; antigüedad en días; tamaño de empresa con codificación ordinal; sector con One-Hot (drop first); contrato y pago mapeados a números; StandardScaler; todo dentro de un Pipeline ajustado solo con entrenamiento.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 0,924 (92%): explica el 92% de las diferencias de MRR entre clientes. MAE = US$68,32 ≈ 9,6% del MRR promedio (US$710,93). Línea base (predecir el promedio): MAE US$266,61 → el modelo reduce el error 74,4%. Distribución del error: p50 US$53; p80 US$106; p90 US$141; p95 US$179; 61% de los clientes dentro de ±US$68. Sesgo medio −US$0,51 (subestima levemente): los errores se compensan al agregar. MAE por tamaño: Pequeña US$60 (14% relativo), Mediana US$69 (10%), Grande US$91 (7%); en clientes con MRR &lt; US$300 el error relativo ronda 34%. Validación cruzada de 5 particiones: R² 0,914–0,921 y MAE US$67–71; R² train 0,919 vs test 0,924 (sin sobreajuste).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Gráfico: efecto en el MRR por 1 desviación estándar (criterio para comparar variables, porque sus unidades no son comparables). Dólares por unidad, para la defensa oral: tamaño +US$323 por escalón (Pequeña→Mediana→Grande); sesiones +US$4 por sesión (desviación estándar ≈45 sesiones; p5–p95: 7 a 139); contrato +US$128 por escalón; pago puntual +US$204; NPS +US$21,8 por punto; gasto de marketing +US$0,023 por cada dólar; tickets −US$17,7 por ticket. Sector y antigüedad ≈ US$0 una vez controlado el resto. Son asociaciones, no causas. La migración de contratos puede reflejar sesgo de selección: validar antes de generalizar.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12191695" cy="1097280"/>
          </a:xfrm>
          <a:prstGeom prst="rect">
            <a:avLst/>
          </a:prstGeom>
          <a:solidFill>
            <a:srgbClr val="0F3D3E"/>
          </a:solidFill>
          <a:ln/>
        </p:spPr>
      </p:sp>
      <p:sp>
        <p:nvSpPr>
          <p:cNvPr id="3" name="Shape 1"/>
          <p:cNvSpPr/>
          <p:nvPr/>
        </p:nvSpPr>
        <p:spPr>
          <a:xfrm>
            <a:off x="0" y="1097280"/>
            <a:ext cx="12191695" cy="64008"/>
          </a:xfrm>
          <a:prstGeom prst="rect">
            <a:avLst/>
          </a:prstGeom>
          <a:solidFill>
            <a:srgbClr val="F2A93B"/>
          </a:solidFill>
          <a:ln/>
        </p:spPr>
      </p:sp>
      <p:sp>
        <p:nvSpPr>
          <p:cNvPr id="4" name="Text 2"/>
          <p:cNvSpPr txBox="1"/>
          <p:nvPr/>
        </p:nvSpPr>
        <p:spPr>
          <a:xfrm>
            <a:off x="548640" y="256032"/>
            <a:ext cx="969264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Retención y proyección de ingresos</a:t>
            </a:r>
            <a:endParaRPr lang="en-US" sz="2800" dirty="0"/>
          </a:p>
        </p:txBody>
      </p:sp>
      <p:sp>
        <p:nvSpPr>
          <p:cNvPr id="5" name="Shape 3"/>
          <p:cNvSpPr/>
          <p:nvPr/>
        </p:nvSpPr>
        <p:spPr>
          <a:xfrm>
            <a:off x="10561320" y="347472"/>
            <a:ext cx="1078992" cy="402336"/>
          </a:xfrm>
          <a:prstGeom prst="roundRect">
            <a:avLst>
              <a:gd name="adj" fmla="val 50000"/>
            </a:avLst>
          </a:prstGeom>
          <a:solidFill>
            <a:srgbClr val="F2A93B"/>
          </a:solidFill>
          <a:ln/>
        </p:spPr>
      </p:sp>
      <p:sp>
        <p:nvSpPr>
          <p:cNvPr id="6" name="Text 4"/>
          <p:cNvSpPr txBox="1"/>
          <p:nvPr/>
        </p:nvSpPr>
        <p:spPr>
          <a:xfrm>
            <a:off x="10561320" y="347472"/>
            <a:ext cx="1078992" cy="402336"/>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1 / 4</a:t>
            </a:r>
            <a:endParaRPr lang="en-US" sz="1400" dirty="0"/>
          </a:p>
        </p:txBody>
      </p:sp>
      <p:sp>
        <p:nvSpPr>
          <p:cNvPr id="7" name="Text 5"/>
          <p:cNvSpPr txBox="1"/>
          <p:nvPr/>
        </p:nvSpPr>
        <p:spPr>
          <a:xfrm>
            <a:off x="548640" y="1280160"/>
            <a:ext cx="11094415" cy="320040"/>
          </a:xfrm>
          <a:prstGeom prst="rect">
            <a:avLst/>
          </a:prstGeom>
          <a:noFill/>
          <a:ln/>
        </p:spPr>
        <p:txBody>
          <a:bodyPr wrap="square" lIns="0" tIns="0" rIns="0" bIns="0" rtlCol="0" anchor="ctr"/>
          <a:lstStyle/>
          <a:p>
            <a:pPr indent="0" marL="0">
              <a:buNone/>
            </a:pPr>
            <a:r>
              <a:rPr lang="en-US" sz="1400" dirty="0">
                <a:solidFill>
                  <a:srgbClr val="5F6B6E"/>
                </a:solidFill>
                <a:latin typeface="Calibri" pitchFamily="34" charset="0"/>
                <a:ea typeface="Calibri" pitchFamily="34" charset="-122"/>
                <a:cs typeface="Calibri" pitchFamily="34" charset="-120"/>
              </a:rPr>
              <a:t>SaaSFlow · Modelo predictivo del MRR del próximo trimestre para sus 30.000 clientes B2B</a:t>
            </a:r>
            <a:endParaRPr lang="en-US" sz="1400" dirty="0"/>
          </a:p>
        </p:txBody>
      </p:sp>
      <p:sp>
        <p:nvSpPr>
          <p:cNvPr id="9" name="Shape 6"/>
          <p:cNvSpPr/>
          <p:nvPr/>
        </p:nvSpPr>
        <p:spPr>
          <a:xfrm>
            <a:off x="548640" y="1783080"/>
            <a:ext cx="3515258" cy="2788920"/>
          </a:xfrm>
          <a:prstGeom prst="rect">
            <a:avLst/>
          </a:prstGeom>
          <a:solidFill>
            <a:srgbClr val="FFFFFF"/>
          </a:solidFill>
          <a:ln w="9525">
            <a:solidFill>
              <a:srgbClr val="E4DCCB"/>
            </a:solidFill>
            <a:prstDash val="solid"/>
          </a:ln>
        </p:spPr>
      </p:sp>
      <p:sp>
        <p:nvSpPr>
          <p:cNvPr id="10" name="Shape 7"/>
          <p:cNvSpPr/>
          <p:nvPr/>
        </p:nvSpPr>
        <p:spPr>
          <a:xfrm>
            <a:off x="548640" y="1783080"/>
            <a:ext cx="82296" cy="2788920"/>
          </a:xfrm>
          <a:prstGeom prst="rect">
            <a:avLst/>
          </a:prstGeom>
          <a:solidFill>
            <a:srgbClr val="1B7F79"/>
          </a:solidFill>
          <a:ln/>
        </p:spPr>
      </p:sp>
      <p:sp>
        <p:nvSpPr>
          <p:cNvPr id="11" name="Shape 8"/>
          <p:cNvSpPr/>
          <p:nvPr/>
        </p:nvSpPr>
        <p:spPr>
          <a:xfrm>
            <a:off x="868680" y="2039112"/>
            <a:ext cx="457200" cy="457200"/>
          </a:xfrm>
          <a:prstGeom prst="ellipse">
            <a:avLst/>
          </a:prstGeom>
          <a:solidFill>
            <a:srgbClr val="1B7F79"/>
          </a:solidFill>
          <a:ln/>
        </p:spPr>
      </p:sp>
      <p:sp>
        <p:nvSpPr>
          <p:cNvPr id="12" name="Text 9"/>
          <p:cNvSpPr txBox="1"/>
          <p:nvPr/>
        </p:nvSpPr>
        <p:spPr>
          <a:xfrm>
            <a:off x="868680" y="20391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10"/>
          <p:cNvSpPr txBox="1"/>
          <p:nvPr/>
        </p:nvSpPr>
        <p:spPr>
          <a:xfrm>
            <a:off x="868680" y="2651760"/>
            <a:ext cx="2966618" cy="411480"/>
          </a:xfrm>
          <a:prstGeom prst="rect">
            <a:avLst/>
          </a:prstGeom>
          <a:noFill/>
          <a:ln/>
        </p:spPr>
        <p:txBody>
          <a:bodyPr wrap="square" lIns="0" tIns="0" rIns="0" bIns="0" rtlCol="0" anchor="ctr"/>
          <a:lstStyle/>
          <a:p>
            <a:pPr indent="0" marL="0">
              <a:buNone/>
            </a:pPr>
            <a:r>
              <a:rPr lang="en-US" sz="1800" b="1" dirty="0">
                <a:solidFill>
                  <a:srgbClr val="0F3D3E"/>
                </a:solidFill>
                <a:latin typeface="Georgia" pitchFamily="34" charset="0"/>
                <a:ea typeface="Georgia" pitchFamily="34" charset="-122"/>
                <a:cs typeface="Georgia" pitchFamily="34" charset="-120"/>
              </a:rPr>
              <a:t>El problema</a:t>
            </a:r>
            <a:endParaRPr lang="en-US" sz="1800" dirty="0"/>
          </a:p>
        </p:txBody>
      </p:sp>
      <p:sp>
        <p:nvSpPr>
          <p:cNvPr id="14" name="Text 11"/>
          <p:cNvSpPr txBox="1"/>
          <p:nvPr/>
        </p:nvSpPr>
        <p:spPr>
          <a:xfrm>
            <a:off x="868680" y="3136392"/>
            <a:ext cx="2966618" cy="1325880"/>
          </a:xfrm>
          <a:prstGeom prst="rect">
            <a:avLst/>
          </a:prstGeom>
          <a:noFill/>
          <a:ln/>
        </p:spPr>
        <p:txBody>
          <a:bodyPr wrap="square" lIns="0" tIns="0" rIns="0" bIns="0" rtlCol="0" anchor="t"/>
          <a:lstStyle/>
          <a:p>
            <a:pPr indent="0" marL="0">
              <a:lnSpc>
                <a:spcPct val="112000"/>
              </a:lnSpc>
              <a:buNone/>
            </a:pPr>
            <a:r>
              <a:rPr lang="en-US" sz="1350" dirty="0">
                <a:solidFill>
                  <a:srgbClr val="1F2A2E"/>
                </a:solidFill>
                <a:latin typeface="Calibri" pitchFamily="34" charset="0"/>
                <a:ea typeface="Calibri" pitchFamily="34" charset="-122"/>
                <a:cs typeface="Calibri" pitchFamily="34" charset="-120"/>
              </a:rPr>
              <a:t>Hoy no podemos proyectar con confianza el MRR del próximo trimestre ni anticipar qué cuentas aportarán menos. Sin eso, retener y planificar ingresos es más difícil.</a:t>
            </a:r>
            <a:endParaRPr lang="en-US" sz="1350" dirty="0"/>
          </a:p>
        </p:txBody>
      </p:sp>
      <p:sp>
        <p:nvSpPr>
          <p:cNvPr id="15" name="Shape 12"/>
          <p:cNvSpPr/>
          <p:nvPr/>
        </p:nvSpPr>
        <p:spPr>
          <a:xfrm>
            <a:off x="4338218" y="1783080"/>
            <a:ext cx="3515258" cy="2788920"/>
          </a:xfrm>
          <a:prstGeom prst="rect">
            <a:avLst/>
          </a:prstGeom>
          <a:solidFill>
            <a:srgbClr val="FFFFFF"/>
          </a:solidFill>
          <a:ln w="9525">
            <a:solidFill>
              <a:srgbClr val="E4DCCB"/>
            </a:solidFill>
            <a:prstDash val="solid"/>
          </a:ln>
        </p:spPr>
      </p:sp>
      <p:sp>
        <p:nvSpPr>
          <p:cNvPr id="16" name="Shape 13"/>
          <p:cNvSpPr/>
          <p:nvPr/>
        </p:nvSpPr>
        <p:spPr>
          <a:xfrm>
            <a:off x="4338218" y="1783080"/>
            <a:ext cx="82296" cy="2788920"/>
          </a:xfrm>
          <a:prstGeom prst="rect">
            <a:avLst/>
          </a:prstGeom>
          <a:solidFill>
            <a:srgbClr val="1B7F79"/>
          </a:solidFill>
          <a:ln/>
        </p:spPr>
      </p:sp>
      <p:sp>
        <p:nvSpPr>
          <p:cNvPr id="17" name="Shape 14"/>
          <p:cNvSpPr/>
          <p:nvPr/>
        </p:nvSpPr>
        <p:spPr>
          <a:xfrm>
            <a:off x="4658258" y="2039112"/>
            <a:ext cx="457200" cy="457200"/>
          </a:xfrm>
          <a:prstGeom prst="ellipse">
            <a:avLst/>
          </a:prstGeom>
          <a:solidFill>
            <a:srgbClr val="1B7F79"/>
          </a:solidFill>
          <a:ln/>
        </p:spPr>
      </p:sp>
      <p:sp>
        <p:nvSpPr>
          <p:cNvPr id="18" name="Text 15"/>
          <p:cNvSpPr txBox="1"/>
          <p:nvPr/>
        </p:nvSpPr>
        <p:spPr>
          <a:xfrm>
            <a:off x="4658258" y="20391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Text 16"/>
          <p:cNvSpPr txBox="1"/>
          <p:nvPr/>
        </p:nvSpPr>
        <p:spPr>
          <a:xfrm>
            <a:off x="4658258" y="2651760"/>
            <a:ext cx="2966618" cy="411480"/>
          </a:xfrm>
          <a:prstGeom prst="rect">
            <a:avLst/>
          </a:prstGeom>
          <a:noFill/>
          <a:ln/>
        </p:spPr>
        <p:txBody>
          <a:bodyPr wrap="square" lIns="0" tIns="0" rIns="0" bIns="0" rtlCol="0" anchor="ctr"/>
          <a:lstStyle/>
          <a:p>
            <a:pPr indent="0" marL="0">
              <a:buNone/>
            </a:pPr>
            <a:r>
              <a:rPr lang="en-US" sz="1800" b="1" dirty="0">
                <a:solidFill>
                  <a:srgbClr val="0F3D3E"/>
                </a:solidFill>
                <a:latin typeface="Georgia" pitchFamily="34" charset="0"/>
                <a:ea typeface="Georgia" pitchFamily="34" charset="-122"/>
                <a:cs typeface="Georgia" pitchFamily="34" charset="-120"/>
              </a:rPr>
              <a:t>El objetivo</a:t>
            </a:r>
            <a:endParaRPr lang="en-US" sz="1800" dirty="0"/>
          </a:p>
        </p:txBody>
      </p:sp>
      <p:sp>
        <p:nvSpPr>
          <p:cNvPr id="20" name="Text 17"/>
          <p:cNvSpPr txBox="1"/>
          <p:nvPr/>
        </p:nvSpPr>
        <p:spPr>
          <a:xfrm>
            <a:off x="4658258" y="3136392"/>
            <a:ext cx="2966618" cy="1325880"/>
          </a:xfrm>
          <a:prstGeom prst="rect">
            <a:avLst/>
          </a:prstGeom>
          <a:noFill/>
          <a:ln/>
        </p:spPr>
        <p:txBody>
          <a:bodyPr wrap="square" lIns="0" tIns="0" rIns="0" bIns="0" rtlCol="0" anchor="t"/>
          <a:lstStyle/>
          <a:p>
            <a:pPr indent="0" marL="0">
              <a:lnSpc>
                <a:spcPct val="112000"/>
              </a:lnSpc>
              <a:buNone/>
            </a:pPr>
            <a:r>
              <a:rPr lang="en-US" sz="1350" dirty="0">
                <a:solidFill>
                  <a:srgbClr val="1F2A2E"/>
                </a:solidFill>
                <a:latin typeface="Calibri" pitchFamily="34" charset="0"/>
                <a:ea typeface="Calibri" pitchFamily="34" charset="-122"/>
                <a:cs typeface="Calibri" pitchFamily="34" charset="-120"/>
              </a:rPr>
              <a:t>Estimar el MRR de cada cliente para el próximo trimestre según su uso, soporte, satisfacción y contrato, para decidir a quién atender primero.</a:t>
            </a:r>
            <a:endParaRPr lang="en-US" sz="1350" dirty="0"/>
          </a:p>
        </p:txBody>
      </p:sp>
      <p:sp>
        <p:nvSpPr>
          <p:cNvPr id="21" name="Shape 18"/>
          <p:cNvSpPr/>
          <p:nvPr/>
        </p:nvSpPr>
        <p:spPr>
          <a:xfrm>
            <a:off x="8127797" y="1783080"/>
            <a:ext cx="3515258" cy="2788920"/>
          </a:xfrm>
          <a:prstGeom prst="rect">
            <a:avLst/>
          </a:prstGeom>
          <a:solidFill>
            <a:srgbClr val="FFFFFF"/>
          </a:solidFill>
          <a:ln w="9525">
            <a:solidFill>
              <a:srgbClr val="E4DCCB"/>
            </a:solidFill>
            <a:prstDash val="solid"/>
          </a:ln>
        </p:spPr>
      </p:sp>
      <p:sp>
        <p:nvSpPr>
          <p:cNvPr id="22" name="Shape 19"/>
          <p:cNvSpPr/>
          <p:nvPr/>
        </p:nvSpPr>
        <p:spPr>
          <a:xfrm>
            <a:off x="8127797" y="1783080"/>
            <a:ext cx="82296" cy="2788920"/>
          </a:xfrm>
          <a:prstGeom prst="rect">
            <a:avLst/>
          </a:prstGeom>
          <a:solidFill>
            <a:srgbClr val="1B7F79"/>
          </a:solidFill>
          <a:ln/>
        </p:spPr>
      </p:sp>
      <p:sp>
        <p:nvSpPr>
          <p:cNvPr id="23" name="Shape 20"/>
          <p:cNvSpPr/>
          <p:nvPr/>
        </p:nvSpPr>
        <p:spPr>
          <a:xfrm>
            <a:off x="8447837" y="2039112"/>
            <a:ext cx="457200" cy="457200"/>
          </a:xfrm>
          <a:prstGeom prst="ellipse">
            <a:avLst/>
          </a:prstGeom>
          <a:solidFill>
            <a:srgbClr val="1B7F79"/>
          </a:solidFill>
          <a:ln/>
        </p:spPr>
      </p:sp>
      <p:sp>
        <p:nvSpPr>
          <p:cNvPr id="24" name="Text 21"/>
          <p:cNvSpPr txBox="1"/>
          <p:nvPr/>
        </p:nvSpPr>
        <p:spPr>
          <a:xfrm>
            <a:off x="8447837" y="20391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5" name="Text 22"/>
          <p:cNvSpPr txBox="1"/>
          <p:nvPr/>
        </p:nvSpPr>
        <p:spPr>
          <a:xfrm>
            <a:off x="8447837" y="2651760"/>
            <a:ext cx="2966618" cy="411480"/>
          </a:xfrm>
          <a:prstGeom prst="rect">
            <a:avLst/>
          </a:prstGeom>
          <a:noFill/>
          <a:ln/>
        </p:spPr>
        <p:txBody>
          <a:bodyPr wrap="square" lIns="0" tIns="0" rIns="0" bIns="0" rtlCol="0" anchor="ctr"/>
          <a:lstStyle/>
          <a:p>
            <a:pPr indent="0" marL="0">
              <a:buNone/>
            </a:pPr>
            <a:r>
              <a:rPr lang="en-US" sz="1800" b="1" dirty="0">
                <a:solidFill>
                  <a:srgbClr val="0F3D3E"/>
                </a:solidFill>
                <a:latin typeface="Georgia" pitchFamily="34" charset="0"/>
                <a:ea typeface="Georgia" pitchFamily="34" charset="-122"/>
                <a:cs typeface="Georgia" pitchFamily="34" charset="-120"/>
              </a:rPr>
              <a:t>El retorno (ROI)</a:t>
            </a:r>
            <a:endParaRPr lang="en-US" sz="1800" dirty="0"/>
          </a:p>
        </p:txBody>
      </p:sp>
      <p:sp>
        <p:nvSpPr>
          <p:cNvPr id="26" name="Text 23"/>
          <p:cNvSpPr txBox="1"/>
          <p:nvPr/>
        </p:nvSpPr>
        <p:spPr>
          <a:xfrm>
            <a:off x="8447837" y="3136392"/>
            <a:ext cx="2966618" cy="1325880"/>
          </a:xfrm>
          <a:prstGeom prst="rect">
            <a:avLst/>
          </a:prstGeom>
          <a:noFill/>
          <a:ln/>
        </p:spPr>
        <p:txBody>
          <a:bodyPr wrap="square" lIns="0" tIns="0" rIns="0" bIns="0" rtlCol="0" anchor="t"/>
          <a:lstStyle/>
          <a:p>
            <a:pPr indent="0" marL="0">
              <a:lnSpc>
                <a:spcPct val="112000"/>
              </a:lnSpc>
              <a:buNone/>
            </a:pPr>
            <a:r>
              <a:rPr lang="en-US" sz="1350" dirty="0">
                <a:solidFill>
                  <a:srgbClr val="1F2A2E"/>
                </a:solidFill>
                <a:latin typeface="Calibri" pitchFamily="34" charset="0"/>
                <a:ea typeface="Calibri" pitchFamily="34" charset="-122"/>
                <a:cs typeface="Calibri" pitchFamily="34" charset="-120"/>
              </a:rPr>
              <a:t>Reorientar el esfuerzo de Customer Success hacia cuentas de mayor impacto, en lugar de repartirlo por igual entre los 30.000 clientes.</a:t>
            </a:r>
            <a:endParaRPr lang="en-US" sz="1350" dirty="0"/>
          </a:p>
        </p:txBody>
      </p:sp>
      <p:sp>
        <p:nvSpPr>
          <p:cNvPr id="27" name="Shape 24"/>
          <p:cNvSpPr/>
          <p:nvPr/>
        </p:nvSpPr>
        <p:spPr>
          <a:xfrm>
            <a:off x="548640" y="4754880"/>
            <a:ext cx="11094415" cy="1691640"/>
          </a:xfrm>
          <a:prstGeom prst="rect">
            <a:avLst/>
          </a:prstGeom>
          <a:solidFill>
            <a:srgbClr val="FDF0D5"/>
          </a:solidFill>
          <a:ln w="12700">
            <a:solidFill>
              <a:srgbClr val="F2A93B"/>
            </a:solidFill>
            <a:prstDash val="solid"/>
          </a:ln>
        </p:spPr>
      </p:sp>
      <p:sp>
        <p:nvSpPr>
          <p:cNvPr id="28" name="Shape 25"/>
          <p:cNvSpPr/>
          <p:nvPr/>
        </p:nvSpPr>
        <p:spPr>
          <a:xfrm>
            <a:off x="548640" y="4754880"/>
            <a:ext cx="82296" cy="1691640"/>
          </a:xfrm>
          <a:prstGeom prst="rect">
            <a:avLst/>
          </a:prstGeom>
          <a:solidFill>
            <a:srgbClr val="F2A93B"/>
          </a:solidFill>
          <a:ln/>
        </p:spPr>
      </p:sp>
      <p:sp>
        <p:nvSpPr>
          <p:cNvPr id="29" name="Text 26"/>
          <p:cNvSpPr txBox="1"/>
          <p:nvPr/>
        </p:nvSpPr>
        <p:spPr>
          <a:xfrm>
            <a:off x="868680" y="4901184"/>
            <a:ext cx="10454335" cy="274320"/>
          </a:xfrm>
          <a:prstGeom prst="rect">
            <a:avLst/>
          </a:prstGeom>
          <a:noFill/>
          <a:ln/>
        </p:spPr>
        <p:txBody>
          <a:bodyPr wrap="square" lIns="0" tIns="0" rIns="0" bIns="0" rtlCol="0" anchor="ctr"/>
          <a:lstStyle/>
          <a:p>
            <a:pPr indent="0" marL="0">
              <a:buNone/>
            </a:pPr>
            <a:r>
              <a:rPr lang="en-US" sz="1200" b="1" spc="100" kern="0" dirty="0">
                <a:solidFill>
                  <a:srgbClr val="8A5A00"/>
                </a:solidFill>
                <a:latin typeface="Calibri" pitchFamily="34" charset="0"/>
                <a:ea typeface="Calibri" pitchFamily="34" charset="-122"/>
                <a:cs typeface="Calibri" pitchFamily="34" charset="-120"/>
              </a:rPr>
              <a:t>EJEMPLO ILUSTRATIVO · SUPUESTO, NO VALIDADO POR FINANZAS</a:t>
            </a:r>
            <a:endParaRPr lang="en-US" sz="1200" dirty="0"/>
          </a:p>
        </p:txBody>
      </p:sp>
      <p:sp>
        <p:nvSpPr>
          <p:cNvPr id="30" name="Text 27"/>
          <p:cNvSpPr txBox="1"/>
          <p:nvPr/>
        </p:nvSpPr>
        <p:spPr>
          <a:xfrm>
            <a:off x="868680" y="5257800"/>
            <a:ext cx="2834640" cy="548640"/>
          </a:xfrm>
          <a:prstGeom prst="rect">
            <a:avLst/>
          </a:prstGeom>
          <a:noFill/>
          <a:ln/>
        </p:spPr>
        <p:txBody>
          <a:bodyPr wrap="square" lIns="0" tIns="0" rIns="0" bIns="0" rtlCol="0" anchor="ctr"/>
          <a:lstStyle/>
          <a:p>
            <a:pPr indent="0" marL="0">
              <a:buNone/>
            </a:pPr>
            <a:r>
              <a:rPr lang="en-US" sz="2800" b="1" dirty="0">
                <a:solidFill>
                  <a:srgbClr val="0F3D3E"/>
                </a:solidFill>
                <a:latin typeface="Georgia" pitchFamily="34" charset="0"/>
                <a:ea typeface="Georgia" pitchFamily="34" charset="-122"/>
                <a:cs typeface="Georgia" pitchFamily="34" charset="-120"/>
              </a:rPr>
              <a:t>≈ US$21,3 M</a:t>
            </a:r>
            <a:endParaRPr lang="en-US" sz="2800" dirty="0"/>
          </a:p>
        </p:txBody>
      </p:sp>
      <p:sp>
        <p:nvSpPr>
          <p:cNvPr id="31" name="Text 28"/>
          <p:cNvSpPr txBox="1"/>
          <p:nvPr/>
        </p:nvSpPr>
        <p:spPr>
          <a:xfrm>
            <a:off x="868680" y="5833872"/>
            <a:ext cx="3566160" cy="502920"/>
          </a:xfrm>
          <a:prstGeom prst="rect">
            <a:avLst/>
          </a:prstGeom>
          <a:noFill/>
          <a:ln/>
        </p:spPr>
        <p:txBody>
          <a:bodyPr wrap="square" lIns="0" tIns="0" rIns="0" bIns="0" rtlCol="0" anchor="ctr"/>
          <a:lstStyle/>
          <a:p>
            <a:pPr indent="0" marL="0">
              <a:buNone/>
            </a:pPr>
            <a:r>
              <a:rPr lang="en-US" sz="1200" dirty="0">
                <a:solidFill>
                  <a:srgbClr val="5F6B6E"/>
                </a:solidFill>
                <a:latin typeface="Calibri" pitchFamily="34" charset="0"/>
                <a:ea typeface="Calibri" pitchFamily="34" charset="-122"/>
                <a:cs typeface="Calibri" pitchFamily="34" charset="-120"/>
              </a:rPr>
              <a:t>de MRR en la cartera (30.000 clientes × US$711 promedio)</a:t>
            </a:r>
            <a:endParaRPr lang="en-US" sz="1200" dirty="0"/>
          </a:p>
        </p:txBody>
      </p:sp>
      <p:sp>
        <p:nvSpPr>
          <p:cNvPr id="32" name="Text 29"/>
          <p:cNvSpPr txBox="1"/>
          <p:nvPr/>
        </p:nvSpPr>
        <p:spPr>
          <a:xfrm>
            <a:off x="4572000" y="5257800"/>
            <a:ext cx="2834640" cy="548640"/>
          </a:xfrm>
          <a:prstGeom prst="rect">
            <a:avLst/>
          </a:prstGeom>
          <a:noFill/>
          <a:ln/>
        </p:spPr>
        <p:txBody>
          <a:bodyPr wrap="square" lIns="0" tIns="0" rIns="0" bIns="0" rtlCol="0" anchor="ctr"/>
          <a:lstStyle/>
          <a:p>
            <a:pPr indent="0" marL="0">
              <a:buNone/>
            </a:pPr>
            <a:r>
              <a:rPr lang="en-US" sz="2800" b="1" dirty="0">
                <a:solidFill>
                  <a:srgbClr val="0F3D3E"/>
                </a:solidFill>
                <a:latin typeface="Georgia" pitchFamily="34" charset="0"/>
                <a:ea typeface="Georgia" pitchFamily="34" charset="-122"/>
                <a:cs typeface="Georgia" pitchFamily="34" charset="-120"/>
              </a:rPr>
              <a:t>≈ US$213 mil</a:t>
            </a:r>
            <a:endParaRPr lang="en-US" sz="2800" dirty="0"/>
          </a:p>
        </p:txBody>
      </p:sp>
      <p:sp>
        <p:nvSpPr>
          <p:cNvPr id="33" name="Text 30"/>
          <p:cNvSpPr txBox="1"/>
          <p:nvPr/>
        </p:nvSpPr>
        <p:spPr>
          <a:xfrm>
            <a:off x="4572000" y="5833872"/>
            <a:ext cx="3291840" cy="502920"/>
          </a:xfrm>
          <a:prstGeom prst="rect">
            <a:avLst/>
          </a:prstGeom>
          <a:noFill/>
          <a:ln/>
        </p:spPr>
        <p:txBody>
          <a:bodyPr wrap="square" lIns="0" tIns="0" rIns="0" bIns="0" rtlCol="0" anchor="ctr"/>
          <a:lstStyle/>
          <a:p>
            <a:pPr indent="0" marL="0">
              <a:buNone/>
            </a:pPr>
            <a:r>
              <a:rPr lang="en-US" sz="1200" dirty="0">
                <a:solidFill>
                  <a:srgbClr val="5F6B6E"/>
                </a:solidFill>
                <a:latin typeface="Calibri" pitchFamily="34" charset="0"/>
                <a:ea typeface="Calibri" pitchFamily="34" charset="-122"/>
                <a:cs typeface="Calibri" pitchFamily="34" charset="-120"/>
              </a:rPr>
              <a:t>es lo que representa cada 1% de ese ingreso: la escala de lo que está en juego</a:t>
            </a:r>
            <a:endParaRPr lang="en-US" sz="1200" dirty="0"/>
          </a:p>
        </p:txBody>
      </p:sp>
      <p:sp>
        <p:nvSpPr>
          <p:cNvPr id="34" name="Text 31"/>
          <p:cNvSpPr txBox="1"/>
          <p:nvPr/>
        </p:nvSpPr>
        <p:spPr>
          <a:xfrm>
            <a:off x="8092440" y="5303520"/>
            <a:ext cx="3383280" cy="914400"/>
          </a:xfrm>
          <a:prstGeom prst="rect">
            <a:avLst/>
          </a:prstGeom>
          <a:noFill/>
          <a:ln/>
        </p:spPr>
        <p:txBody>
          <a:bodyPr wrap="square" lIns="0" tIns="0" rIns="0" bIns="0" rtlCol="0" anchor="ctr"/>
          <a:lstStyle/>
          <a:p>
            <a:pPr indent="0" marL="0">
              <a:buNone/>
            </a:pPr>
            <a:r>
              <a:rPr lang="en-US" sz="1300" i="1" dirty="0">
                <a:solidFill>
                  <a:srgbClr val="1F2A2E"/>
                </a:solidFill>
                <a:latin typeface="Calibri" pitchFamily="34" charset="0"/>
                <a:ea typeface="Calibri" pitchFamily="34" charset="-122"/>
                <a:cs typeface="Calibri" pitchFamily="34" charset="-120"/>
              </a:rPr>
              <a:t>Es una referencia de tamaño, no una promesa de resultado.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12191695" cy="1097280"/>
          </a:xfrm>
          <a:prstGeom prst="rect">
            <a:avLst/>
          </a:prstGeom>
          <a:solidFill>
            <a:srgbClr val="0F3D3E"/>
          </a:solidFill>
          <a:ln/>
        </p:spPr>
      </p:sp>
      <p:sp>
        <p:nvSpPr>
          <p:cNvPr id="3" name="Shape 1"/>
          <p:cNvSpPr/>
          <p:nvPr/>
        </p:nvSpPr>
        <p:spPr>
          <a:xfrm>
            <a:off x="0" y="1097280"/>
            <a:ext cx="12191695" cy="64008"/>
          </a:xfrm>
          <a:prstGeom prst="rect">
            <a:avLst/>
          </a:prstGeom>
          <a:solidFill>
            <a:srgbClr val="F2A93B"/>
          </a:solidFill>
          <a:ln/>
        </p:spPr>
      </p:sp>
      <p:sp>
        <p:nvSpPr>
          <p:cNvPr id="4" name="Text 2"/>
          <p:cNvSpPr txBox="1"/>
          <p:nvPr/>
        </p:nvSpPr>
        <p:spPr>
          <a:xfrm>
            <a:off x="548640" y="256032"/>
            <a:ext cx="969264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Calidad y tratamiento de los datos</a:t>
            </a:r>
            <a:endParaRPr lang="en-US" sz="2800" dirty="0"/>
          </a:p>
        </p:txBody>
      </p:sp>
      <p:sp>
        <p:nvSpPr>
          <p:cNvPr id="5" name="Shape 3"/>
          <p:cNvSpPr/>
          <p:nvPr/>
        </p:nvSpPr>
        <p:spPr>
          <a:xfrm>
            <a:off x="10561320" y="347472"/>
            <a:ext cx="1078992" cy="402336"/>
          </a:xfrm>
          <a:prstGeom prst="roundRect">
            <a:avLst>
              <a:gd name="adj" fmla="val 50000"/>
            </a:avLst>
          </a:prstGeom>
          <a:solidFill>
            <a:srgbClr val="F2A93B"/>
          </a:solidFill>
          <a:ln/>
        </p:spPr>
      </p:sp>
      <p:sp>
        <p:nvSpPr>
          <p:cNvPr id="6" name="Text 4"/>
          <p:cNvSpPr txBox="1"/>
          <p:nvPr/>
        </p:nvSpPr>
        <p:spPr>
          <a:xfrm>
            <a:off x="10561320" y="347472"/>
            <a:ext cx="1078992" cy="402336"/>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2 / 4</a:t>
            </a:r>
            <a:endParaRPr lang="en-US" sz="1400" dirty="0"/>
          </a:p>
        </p:txBody>
      </p:sp>
      <p:sp>
        <p:nvSpPr>
          <p:cNvPr id="7" name="Text 5"/>
          <p:cNvSpPr txBox="1"/>
          <p:nvPr/>
        </p:nvSpPr>
        <p:spPr>
          <a:xfrm>
            <a:off x="548640" y="1280160"/>
            <a:ext cx="11094415" cy="320040"/>
          </a:xfrm>
          <a:prstGeom prst="rect">
            <a:avLst/>
          </a:prstGeom>
          <a:noFill/>
          <a:ln/>
        </p:spPr>
        <p:txBody>
          <a:bodyPr wrap="square" lIns="0" tIns="0" rIns="0" bIns="0" rtlCol="0" anchor="ctr"/>
          <a:lstStyle/>
          <a:p>
            <a:pPr indent="0" marL="0">
              <a:buNone/>
            </a:pPr>
            <a:r>
              <a:rPr lang="en-US" sz="1400" dirty="0">
                <a:solidFill>
                  <a:srgbClr val="5F6B6E"/>
                </a:solidFill>
                <a:latin typeface="Calibri" pitchFamily="34" charset="0"/>
                <a:ea typeface="Calibri" pitchFamily="34" charset="-122"/>
                <a:cs typeface="Calibri" pitchFamily="34" charset="-120"/>
              </a:rPr>
              <a:t>30.000 clientes revisados antes de entrenar el modelo</a:t>
            </a:r>
            <a:endParaRPr lang="en-US" sz="1400" dirty="0"/>
          </a:p>
        </p:txBody>
      </p:sp>
      <p:sp>
        <p:nvSpPr>
          <p:cNvPr id="9" name="Shape 6"/>
          <p:cNvSpPr/>
          <p:nvPr/>
        </p:nvSpPr>
        <p:spPr>
          <a:xfrm>
            <a:off x="548640" y="1783080"/>
            <a:ext cx="5486400" cy="1645920"/>
          </a:xfrm>
          <a:prstGeom prst="rect">
            <a:avLst/>
          </a:prstGeom>
          <a:solidFill>
            <a:srgbClr val="FFFFFF"/>
          </a:solidFill>
          <a:ln w="9525">
            <a:solidFill>
              <a:srgbClr val="E4DCCB"/>
            </a:solidFill>
            <a:prstDash val="solid"/>
          </a:ln>
        </p:spPr>
      </p:sp>
      <p:sp>
        <p:nvSpPr>
          <p:cNvPr id="10" name="Shape 7"/>
          <p:cNvSpPr/>
          <p:nvPr/>
        </p:nvSpPr>
        <p:spPr>
          <a:xfrm>
            <a:off x="548640" y="1783080"/>
            <a:ext cx="82296" cy="1645920"/>
          </a:xfrm>
          <a:prstGeom prst="rect">
            <a:avLst/>
          </a:prstGeom>
          <a:solidFill>
            <a:srgbClr val="F2A93B"/>
          </a:solidFill>
          <a:ln/>
        </p:spPr>
      </p:sp>
      <p:sp>
        <p:nvSpPr>
          <p:cNvPr id="11" name="Text 8"/>
          <p:cNvSpPr txBox="1"/>
          <p:nvPr/>
        </p:nvSpPr>
        <p:spPr>
          <a:xfrm>
            <a:off x="868680" y="1901952"/>
            <a:ext cx="4937760" cy="320040"/>
          </a:xfrm>
          <a:prstGeom prst="rect">
            <a:avLst/>
          </a:prstGeom>
          <a:noFill/>
          <a:ln/>
        </p:spPr>
        <p:txBody>
          <a:bodyPr wrap="square" lIns="0" tIns="0" rIns="0" bIns="0" rtlCol="0" anchor="ctr"/>
          <a:lstStyle/>
          <a:p>
            <a:pPr indent="0" marL="0">
              <a:buNone/>
            </a:pPr>
            <a:r>
              <a:rPr lang="en-US" sz="1600" b="1" dirty="0">
                <a:solidFill>
                  <a:srgbClr val="0F3D3E"/>
                </a:solidFill>
                <a:latin typeface="Georgia" pitchFamily="34" charset="0"/>
                <a:ea typeface="Georgia" pitchFamily="34" charset="-122"/>
                <a:cs typeface="Georgia" pitchFamily="34" charset="-120"/>
              </a:rPr>
              <a:t>Valores faltantes</a:t>
            </a:r>
            <a:endParaRPr lang="en-US" sz="1600" dirty="0"/>
          </a:p>
        </p:txBody>
      </p:sp>
      <p:sp>
        <p:nvSpPr>
          <p:cNvPr id="12" name="Text 9"/>
          <p:cNvSpPr txBox="1"/>
          <p:nvPr/>
        </p:nvSpPr>
        <p:spPr>
          <a:xfrm>
            <a:off x="868680" y="2286000"/>
            <a:ext cx="1600200" cy="457200"/>
          </a:xfrm>
          <a:prstGeom prst="rect">
            <a:avLst/>
          </a:prstGeom>
          <a:noFill/>
          <a:ln/>
        </p:spPr>
        <p:txBody>
          <a:bodyPr wrap="square" lIns="0" tIns="0" rIns="0" bIns="0" rtlCol="0" anchor="ctr"/>
          <a:lstStyle/>
          <a:p>
            <a:pPr indent="0" marL="0">
              <a:buNone/>
            </a:pPr>
            <a:r>
              <a:rPr lang="en-US" sz="2400" b="1" dirty="0">
                <a:solidFill>
                  <a:srgbClr val="1B7F79"/>
                </a:solidFill>
                <a:latin typeface="Georgia" pitchFamily="34" charset="0"/>
                <a:ea typeface="Georgia" pitchFamily="34" charset="-122"/>
                <a:cs typeface="Georgia" pitchFamily="34" charset="-120"/>
              </a:rPr>
              <a:t>11,99%</a:t>
            </a:r>
            <a:endParaRPr lang="en-US" sz="2400" dirty="0"/>
          </a:p>
        </p:txBody>
      </p:sp>
      <p:sp>
        <p:nvSpPr>
          <p:cNvPr id="13" name="Text 10"/>
          <p:cNvSpPr txBox="1"/>
          <p:nvPr/>
        </p:nvSpPr>
        <p:spPr>
          <a:xfrm>
            <a:off x="868680" y="2761488"/>
            <a:ext cx="1600200" cy="502920"/>
          </a:xfrm>
          <a:prstGeom prst="rect">
            <a:avLst/>
          </a:prstGeom>
          <a:noFill/>
          <a:ln/>
        </p:spPr>
        <p:txBody>
          <a:bodyPr wrap="square" lIns="0" tIns="0" rIns="0" bIns="0" rtlCol="0" anchor="t"/>
          <a:lstStyle/>
          <a:p>
            <a:pPr indent="0" marL="0">
              <a:buNone/>
            </a:pPr>
            <a:r>
              <a:rPr lang="en-US" sz="1200" dirty="0">
                <a:solidFill>
                  <a:srgbClr val="5F6B6E"/>
                </a:solidFill>
                <a:latin typeface="Calibri" pitchFamily="34" charset="0"/>
                <a:ea typeface="Calibri" pitchFamily="34" charset="-122"/>
                <a:cs typeface="Calibri" pitchFamily="34" charset="-120"/>
              </a:rPr>
              <a:t>Satisfacción (NPS)</a:t>
            </a:r>
            <a:endParaRPr lang="en-US" sz="1200" dirty="0"/>
          </a:p>
        </p:txBody>
      </p:sp>
      <p:sp>
        <p:nvSpPr>
          <p:cNvPr id="14" name="Text 11"/>
          <p:cNvSpPr txBox="1"/>
          <p:nvPr/>
        </p:nvSpPr>
        <p:spPr>
          <a:xfrm>
            <a:off x="2560320" y="2286000"/>
            <a:ext cx="1600200" cy="457200"/>
          </a:xfrm>
          <a:prstGeom prst="rect">
            <a:avLst/>
          </a:prstGeom>
          <a:noFill/>
          <a:ln/>
        </p:spPr>
        <p:txBody>
          <a:bodyPr wrap="square" lIns="0" tIns="0" rIns="0" bIns="0" rtlCol="0" anchor="ctr"/>
          <a:lstStyle/>
          <a:p>
            <a:pPr indent="0" marL="0">
              <a:buNone/>
            </a:pPr>
            <a:r>
              <a:rPr lang="en-US" sz="2400" b="1" dirty="0">
                <a:solidFill>
                  <a:srgbClr val="1B7F79"/>
                </a:solidFill>
                <a:latin typeface="Georgia" pitchFamily="34" charset="0"/>
                <a:ea typeface="Georgia" pitchFamily="34" charset="-122"/>
                <a:cs typeface="Georgia" pitchFamily="34" charset="-120"/>
              </a:rPr>
              <a:t>8,21%</a:t>
            </a:r>
            <a:endParaRPr lang="en-US" sz="2400" dirty="0"/>
          </a:p>
        </p:txBody>
      </p:sp>
      <p:sp>
        <p:nvSpPr>
          <p:cNvPr id="15" name="Text 12"/>
          <p:cNvSpPr txBox="1"/>
          <p:nvPr/>
        </p:nvSpPr>
        <p:spPr>
          <a:xfrm>
            <a:off x="2560320" y="2761488"/>
            <a:ext cx="1600200" cy="502920"/>
          </a:xfrm>
          <a:prstGeom prst="rect">
            <a:avLst/>
          </a:prstGeom>
          <a:noFill/>
          <a:ln/>
        </p:spPr>
        <p:txBody>
          <a:bodyPr wrap="square" lIns="0" tIns="0" rIns="0" bIns="0" rtlCol="0" anchor="t"/>
          <a:lstStyle/>
          <a:p>
            <a:pPr indent="0" marL="0">
              <a:buNone/>
            </a:pPr>
            <a:r>
              <a:rPr lang="en-US" sz="1200" dirty="0">
                <a:solidFill>
                  <a:srgbClr val="5F6B6E"/>
                </a:solidFill>
                <a:latin typeface="Calibri" pitchFamily="34" charset="0"/>
                <a:ea typeface="Calibri" pitchFamily="34" charset="-122"/>
                <a:cs typeface="Calibri" pitchFamily="34" charset="-120"/>
              </a:rPr>
              <a:t>Tickets de soporte</a:t>
            </a:r>
            <a:endParaRPr lang="en-US" sz="1200" dirty="0"/>
          </a:p>
        </p:txBody>
      </p:sp>
      <p:sp>
        <p:nvSpPr>
          <p:cNvPr id="16" name="Text 13"/>
          <p:cNvSpPr txBox="1"/>
          <p:nvPr/>
        </p:nvSpPr>
        <p:spPr>
          <a:xfrm>
            <a:off x="4251960" y="2286000"/>
            <a:ext cx="1600200" cy="457200"/>
          </a:xfrm>
          <a:prstGeom prst="rect">
            <a:avLst/>
          </a:prstGeom>
          <a:noFill/>
          <a:ln/>
        </p:spPr>
        <p:txBody>
          <a:bodyPr wrap="square" lIns="0" tIns="0" rIns="0" bIns="0" rtlCol="0" anchor="ctr"/>
          <a:lstStyle/>
          <a:p>
            <a:pPr indent="0" marL="0">
              <a:buNone/>
            </a:pPr>
            <a:r>
              <a:rPr lang="en-US" sz="2400" b="1" dirty="0">
                <a:solidFill>
                  <a:srgbClr val="1B7F79"/>
                </a:solidFill>
                <a:latin typeface="Georgia" pitchFamily="34" charset="0"/>
                <a:ea typeface="Georgia" pitchFamily="34" charset="-122"/>
                <a:cs typeface="Georgia" pitchFamily="34" charset="-120"/>
              </a:rPr>
              <a:t>5,15%</a:t>
            </a:r>
            <a:endParaRPr lang="en-US" sz="2400" dirty="0"/>
          </a:p>
        </p:txBody>
      </p:sp>
      <p:sp>
        <p:nvSpPr>
          <p:cNvPr id="17" name="Text 14"/>
          <p:cNvSpPr txBox="1"/>
          <p:nvPr/>
        </p:nvSpPr>
        <p:spPr>
          <a:xfrm>
            <a:off x="4251960" y="2761488"/>
            <a:ext cx="1600200" cy="502920"/>
          </a:xfrm>
          <a:prstGeom prst="rect">
            <a:avLst/>
          </a:prstGeom>
          <a:noFill/>
          <a:ln/>
        </p:spPr>
        <p:txBody>
          <a:bodyPr wrap="square" lIns="0" tIns="0" rIns="0" bIns="0" rtlCol="0" anchor="t"/>
          <a:lstStyle/>
          <a:p>
            <a:pPr indent="0" marL="0">
              <a:buNone/>
            </a:pPr>
            <a:r>
              <a:rPr lang="en-US" sz="1200" dirty="0">
                <a:solidFill>
                  <a:srgbClr val="5F6B6E"/>
                </a:solidFill>
                <a:latin typeface="Calibri" pitchFamily="34" charset="0"/>
                <a:ea typeface="Calibri" pitchFamily="34" charset="-122"/>
                <a:cs typeface="Calibri" pitchFamily="34" charset="-120"/>
              </a:rPr>
              <a:t>Uso mensual</a:t>
            </a:r>
            <a:endParaRPr lang="en-US" sz="1200" dirty="0"/>
          </a:p>
        </p:txBody>
      </p:sp>
      <p:sp>
        <p:nvSpPr>
          <p:cNvPr id="18" name="Shape 15"/>
          <p:cNvSpPr/>
          <p:nvPr/>
        </p:nvSpPr>
        <p:spPr>
          <a:xfrm>
            <a:off x="548640" y="3566160"/>
            <a:ext cx="5486400" cy="1325880"/>
          </a:xfrm>
          <a:prstGeom prst="rect">
            <a:avLst/>
          </a:prstGeom>
          <a:solidFill>
            <a:srgbClr val="FFFFFF"/>
          </a:solidFill>
          <a:ln w="9525">
            <a:solidFill>
              <a:srgbClr val="E4DCCB"/>
            </a:solidFill>
            <a:prstDash val="solid"/>
          </a:ln>
        </p:spPr>
      </p:sp>
      <p:sp>
        <p:nvSpPr>
          <p:cNvPr id="19" name="Shape 16"/>
          <p:cNvSpPr/>
          <p:nvPr/>
        </p:nvSpPr>
        <p:spPr>
          <a:xfrm>
            <a:off x="548640" y="3566160"/>
            <a:ext cx="82296" cy="1325880"/>
          </a:xfrm>
          <a:prstGeom prst="rect">
            <a:avLst/>
          </a:prstGeom>
          <a:solidFill>
            <a:srgbClr val="1B7F79"/>
          </a:solidFill>
          <a:ln/>
        </p:spPr>
      </p:sp>
      <p:sp>
        <p:nvSpPr>
          <p:cNvPr id="20" name="Text 17"/>
          <p:cNvSpPr txBox="1"/>
          <p:nvPr/>
        </p:nvSpPr>
        <p:spPr>
          <a:xfrm>
            <a:off x="868680" y="3657600"/>
            <a:ext cx="4937760" cy="320040"/>
          </a:xfrm>
          <a:prstGeom prst="rect">
            <a:avLst/>
          </a:prstGeom>
          <a:noFill/>
          <a:ln/>
        </p:spPr>
        <p:txBody>
          <a:bodyPr wrap="square" lIns="0" tIns="0" rIns="0" bIns="0" rtlCol="0" anchor="ctr"/>
          <a:lstStyle/>
          <a:p>
            <a:pPr indent="0" marL="0">
              <a:buNone/>
            </a:pPr>
            <a:r>
              <a:rPr lang="en-US" sz="1600" b="1" dirty="0">
                <a:solidFill>
                  <a:srgbClr val="0F3D3E"/>
                </a:solidFill>
                <a:latin typeface="Georgia" pitchFamily="34" charset="0"/>
                <a:ea typeface="Georgia" pitchFamily="34" charset="-122"/>
                <a:cs typeface="Georgia" pitchFamily="34" charset="-120"/>
              </a:rPr>
              <a:t>Valores atípicos</a:t>
            </a:r>
            <a:endParaRPr lang="en-US" sz="1600" dirty="0"/>
          </a:p>
        </p:txBody>
      </p:sp>
      <p:sp>
        <p:nvSpPr>
          <p:cNvPr id="21" name="Text 18"/>
          <p:cNvSpPr txBox="1"/>
          <p:nvPr/>
        </p:nvSpPr>
        <p:spPr>
          <a:xfrm>
            <a:off x="868680" y="4005072"/>
            <a:ext cx="4937760" cy="822960"/>
          </a:xfrm>
          <a:prstGeom prst="rect">
            <a:avLst/>
          </a:prstGeom>
          <a:noFill/>
          <a:ln/>
        </p:spPr>
        <p:txBody>
          <a:bodyPr wrap="square" lIns="0" tIns="0" rIns="0" bIns="0" rtlCol="0" anchor="t"/>
          <a:lstStyle/>
          <a:p>
            <a:pPr indent="0" marL="0">
              <a:lnSpc>
                <a:spcPct val="110000"/>
              </a:lnSpc>
              <a:buNone/>
            </a:pPr>
            <a:r>
              <a:rPr lang="en-US" sz="1350" dirty="0">
                <a:solidFill>
                  <a:srgbClr val="1F2A2E"/>
                </a:solidFill>
                <a:latin typeface="Calibri" pitchFamily="34" charset="0"/>
                <a:ea typeface="Calibri" pitchFamily="34" charset="-122"/>
                <a:cs typeface="Calibri" pitchFamily="34" charset="-120"/>
              </a:rPr>
              <a:t>Aparecen en el uso mensual (≈ 4,6% de los clientes) y en el MRR (≈ 2%). Se conservan: son comportamiento real de la cartera, no errores.</a:t>
            </a:r>
            <a:endParaRPr lang="en-US" sz="1350" dirty="0"/>
          </a:p>
        </p:txBody>
      </p:sp>
      <p:sp>
        <p:nvSpPr>
          <p:cNvPr id="22" name="Shape 19"/>
          <p:cNvSpPr/>
          <p:nvPr/>
        </p:nvSpPr>
        <p:spPr>
          <a:xfrm>
            <a:off x="548640" y="5029200"/>
            <a:ext cx="5486400" cy="1280160"/>
          </a:xfrm>
          <a:prstGeom prst="rect">
            <a:avLst/>
          </a:prstGeom>
          <a:solidFill>
            <a:srgbClr val="FFFFFF"/>
          </a:solidFill>
          <a:ln w="9525">
            <a:solidFill>
              <a:srgbClr val="E4DCCB"/>
            </a:solidFill>
            <a:prstDash val="solid"/>
          </a:ln>
        </p:spPr>
      </p:sp>
      <p:sp>
        <p:nvSpPr>
          <p:cNvPr id="23" name="Shape 20"/>
          <p:cNvSpPr/>
          <p:nvPr/>
        </p:nvSpPr>
        <p:spPr>
          <a:xfrm>
            <a:off x="548640" y="5029200"/>
            <a:ext cx="82296" cy="1280160"/>
          </a:xfrm>
          <a:prstGeom prst="rect">
            <a:avLst/>
          </a:prstGeom>
          <a:solidFill>
            <a:srgbClr val="1B7F79"/>
          </a:solidFill>
          <a:ln/>
        </p:spPr>
      </p:sp>
      <p:sp>
        <p:nvSpPr>
          <p:cNvPr id="24" name="Text 21"/>
          <p:cNvSpPr txBox="1"/>
          <p:nvPr/>
        </p:nvSpPr>
        <p:spPr>
          <a:xfrm>
            <a:off x="868680" y="5120640"/>
            <a:ext cx="4937760" cy="320040"/>
          </a:xfrm>
          <a:prstGeom prst="rect">
            <a:avLst/>
          </a:prstGeom>
          <a:noFill/>
          <a:ln/>
        </p:spPr>
        <p:txBody>
          <a:bodyPr wrap="square" lIns="0" tIns="0" rIns="0" bIns="0" rtlCol="0" anchor="ctr"/>
          <a:lstStyle/>
          <a:p>
            <a:pPr indent="0" marL="0">
              <a:buNone/>
            </a:pPr>
            <a:r>
              <a:rPr lang="en-US" sz="1600" b="1" dirty="0">
                <a:solidFill>
                  <a:srgbClr val="0F3D3E"/>
                </a:solidFill>
                <a:latin typeface="Georgia" pitchFamily="34" charset="0"/>
                <a:ea typeface="Georgia" pitchFamily="34" charset="-122"/>
                <a:cs typeface="Georgia" pitchFamily="34" charset="-120"/>
              </a:rPr>
              <a:t>Distribución asimétrica</a:t>
            </a:r>
            <a:endParaRPr lang="en-US" sz="1600" dirty="0"/>
          </a:p>
        </p:txBody>
      </p:sp>
      <p:sp>
        <p:nvSpPr>
          <p:cNvPr id="25" name="Text 22"/>
          <p:cNvSpPr txBox="1"/>
          <p:nvPr/>
        </p:nvSpPr>
        <p:spPr>
          <a:xfrm>
            <a:off x="868680" y="5468112"/>
            <a:ext cx="4937760" cy="777240"/>
          </a:xfrm>
          <a:prstGeom prst="rect">
            <a:avLst/>
          </a:prstGeom>
          <a:noFill/>
          <a:ln/>
        </p:spPr>
        <p:txBody>
          <a:bodyPr wrap="square" lIns="0" tIns="0" rIns="0" bIns="0" rtlCol="0" anchor="t"/>
          <a:lstStyle/>
          <a:p>
            <a:pPr indent="0" marL="0">
              <a:lnSpc>
                <a:spcPct val="110000"/>
              </a:lnSpc>
              <a:buNone/>
            </a:pPr>
            <a:r>
              <a:rPr lang="en-US" sz="1350" dirty="0">
                <a:solidFill>
                  <a:srgbClr val="1F2A2E"/>
                </a:solidFill>
                <a:latin typeface="Calibri" pitchFamily="34" charset="0"/>
                <a:ea typeface="Calibri" pitchFamily="34" charset="-122"/>
                <a:cs typeface="Calibri" pitchFamily="34" charset="-120"/>
              </a:rPr>
              <a:t>El uso mensual es muy asimétrico (sesgo ≈ 2): pocos clientes concentran el uso intensivo. El MRR es más moderado (sesgo ≈ 1).</a:t>
            </a:r>
            <a:endParaRPr lang="en-US" sz="1350" dirty="0"/>
          </a:p>
        </p:txBody>
      </p:sp>
      <p:sp>
        <p:nvSpPr>
          <p:cNvPr id="26" name="Shape 23"/>
          <p:cNvSpPr/>
          <p:nvPr/>
        </p:nvSpPr>
        <p:spPr>
          <a:xfrm>
            <a:off x="6309360" y="1783080"/>
            <a:ext cx="5333695" cy="4526280"/>
          </a:xfrm>
          <a:prstGeom prst="rect">
            <a:avLst/>
          </a:prstGeom>
          <a:solidFill>
            <a:srgbClr val="0F3D3E"/>
          </a:solidFill>
          <a:ln/>
        </p:spPr>
      </p:sp>
      <p:sp>
        <p:nvSpPr>
          <p:cNvPr id="27" name="Text 24"/>
          <p:cNvSpPr txBox="1"/>
          <p:nvPr/>
        </p:nvSpPr>
        <p:spPr>
          <a:xfrm>
            <a:off x="6675120" y="1938528"/>
            <a:ext cx="4602175" cy="411480"/>
          </a:xfrm>
          <a:prstGeom prst="rect">
            <a:avLst/>
          </a:prstGeom>
          <a:noFill/>
          <a:ln/>
        </p:spPr>
        <p:txBody>
          <a:bodyPr wrap="square" lIns="0" tIns="0" rIns="0" bIns="0" rtlCol="0" anchor="ctr"/>
          <a:lstStyle/>
          <a:p>
            <a:pPr indent="0" marL="0">
              <a:buNone/>
            </a:pPr>
            <a:r>
              <a:rPr lang="en-US" sz="1800" b="1" dirty="0">
                <a:solidFill>
                  <a:srgbClr val="FFFFFF"/>
                </a:solidFill>
                <a:latin typeface="Georgia" pitchFamily="34" charset="0"/>
                <a:ea typeface="Georgia" pitchFamily="34" charset="-122"/>
                <a:cs typeface="Georgia" pitchFamily="34" charset="-120"/>
              </a:rPr>
              <a:t>Cómo preparamos los datos</a:t>
            </a:r>
            <a:endParaRPr lang="en-US" sz="1800" dirty="0"/>
          </a:p>
        </p:txBody>
      </p:sp>
      <p:sp>
        <p:nvSpPr>
          <p:cNvPr id="28" name="Shape 25"/>
          <p:cNvSpPr/>
          <p:nvPr/>
        </p:nvSpPr>
        <p:spPr>
          <a:xfrm>
            <a:off x="6675120" y="2532888"/>
            <a:ext cx="329184" cy="329184"/>
          </a:xfrm>
          <a:prstGeom prst="ellipse">
            <a:avLst/>
          </a:prstGeom>
          <a:solidFill>
            <a:srgbClr val="F2A93B"/>
          </a:solidFill>
          <a:ln/>
        </p:spPr>
      </p:sp>
      <p:sp>
        <p:nvSpPr>
          <p:cNvPr id="29" name="Text 26"/>
          <p:cNvSpPr txBox="1"/>
          <p:nvPr/>
        </p:nvSpPr>
        <p:spPr>
          <a:xfrm>
            <a:off x="6675120" y="2532888"/>
            <a:ext cx="329184" cy="32918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1</a:t>
            </a:r>
            <a:endParaRPr lang="en-US" sz="1400" dirty="0"/>
          </a:p>
        </p:txBody>
      </p:sp>
      <p:sp>
        <p:nvSpPr>
          <p:cNvPr id="30" name="Text 27"/>
          <p:cNvSpPr txBox="1"/>
          <p:nvPr/>
        </p:nvSpPr>
        <p:spPr>
          <a:xfrm>
            <a:off x="7178040" y="2478024"/>
            <a:ext cx="414497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Valores faltantes completados</a:t>
            </a:r>
            <a:endParaRPr lang="en-US" sz="1350" dirty="0"/>
          </a:p>
        </p:txBody>
      </p:sp>
      <p:sp>
        <p:nvSpPr>
          <p:cNvPr id="31" name="Text 28"/>
          <p:cNvSpPr txBox="1"/>
          <p:nvPr/>
        </p:nvSpPr>
        <p:spPr>
          <a:xfrm>
            <a:off x="7178040" y="2752344"/>
            <a:ext cx="4144975" cy="457200"/>
          </a:xfrm>
          <a:prstGeom prst="rect">
            <a:avLst/>
          </a:prstGeom>
          <a:noFill/>
          <a:ln/>
        </p:spPr>
        <p:txBody>
          <a:bodyPr wrap="square" lIns="0" tIns="0" rIns="0" bIns="0" rtlCol="0" anchor="t"/>
          <a:lstStyle/>
          <a:p>
            <a:pPr indent="0" marL="0">
              <a:lnSpc>
                <a:spcPct val="105000"/>
              </a:lnSpc>
              <a:buNone/>
            </a:pPr>
            <a:r>
              <a:rPr lang="en-US" sz="1200" dirty="0">
                <a:solidFill>
                  <a:srgbClr val="D5ECE9"/>
                </a:solidFill>
                <a:latin typeface="Calibri" pitchFamily="34" charset="0"/>
                <a:ea typeface="Calibri" pitchFamily="34" charset="-122"/>
                <a:cs typeface="Calibri" pitchFamily="34" charset="-120"/>
              </a:rPr>
              <a:t>con el valor típico: mediana en uso mensual; valor más frecuente en tickets y NPS.</a:t>
            </a:r>
            <a:endParaRPr lang="en-US" sz="1200" dirty="0"/>
          </a:p>
        </p:txBody>
      </p:sp>
      <p:sp>
        <p:nvSpPr>
          <p:cNvPr id="32" name="Shape 29"/>
          <p:cNvSpPr/>
          <p:nvPr/>
        </p:nvSpPr>
        <p:spPr>
          <a:xfrm>
            <a:off x="6675120" y="3282696"/>
            <a:ext cx="329184" cy="329184"/>
          </a:xfrm>
          <a:prstGeom prst="ellipse">
            <a:avLst/>
          </a:prstGeom>
          <a:solidFill>
            <a:srgbClr val="F2A93B"/>
          </a:solidFill>
          <a:ln/>
        </p:spPr>
      </p:sp>
      <p:sp>
        <p:nvSpPr>
          <p:cNvPr id="33" name="Text 30"/>
          <p:cNvSpPr txBox="1"/>
          <p:nvPr/>
        </p:nvSpPr>
        <p:spPr>
          <a:xfrm>
            <a:off x="6675120" y="3282696"/>
            <a:ext cx="329184" cy="32918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2</a:t>
            </a:r>
            <a:endParaRPr lang="en-US" sz="1400" dirty="0"/>
          </a:p>
        </p:txBody>
      </p:sp>
      <p:sp>
        <p:nvSpPr>
          <p:cNvPr id="34" name="Text 31"/>
          <p:cNvSpPr txBox="1"/>
          <p:nvPr/>
        </p:nvSpPr>
        <p:spPr>
          <a:xfrm>
            <a:off x="7178040" y="3227832"/>
            <a:ext cx="414497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Antigüedad del cliente</a:t>
            </a:r>
            <a:endParaRPr lang="en-US" sz="1350" dirty="0"/>
          </a:p>
        </p:txBody>
      </p:sp>
      <p:sp>
        <p:nvSpPr>
          <p:cNvPr id="35" name="Text 32"/>
          <p:cNvSpPr txBox="1"/>
          <p:nvPr/>
        </p:nvSpPr>
        <p:spPr>
          <a:xfrm>
            <a:off x="7178040" y="3502152"/>
            <a:ext cx="4144975" cy="457200"/>
          </a:xfrm>
          <a:prstGeom prst="rect">
            <a:avLst/>
          </a:prstGeom>
          <a:noFill/>
          <a:ln/>
        </p:spPr>
        <p:txBody>
          <a:bodyPr wrap="square" lIns="0" tIns="0" rIns="0" bIns="0" rtlCol="0" anchor="t"/>
          <a:lstStyle/>
          <a:p>
            <a:pPr indent="0" marL="0">
              <a:lnSpc>
                <a:spcPct val="105000"/>
              </a:lnSpc>
              <a:buNone/>
            </a:pPr>
            <a:r>
              <a:rPr lang="en-US" sz="1200" dirty="0">
                <a:solidFill>
                  <a:srgbClr val="D5ECE9"/>
                </a:solidFill>
                <a:latin typeface="Calibri" pitchFamily="34" charset="0"/>
                <a:ea typeface="Calibri" pitchFamily="34" charset="-122"/>
                <a:cs typeface="Calibri" pitchFamily="34" charset="-120"/>
              </a:rPr>
              <a:t>la fecha de alta se convirtió en días de antigüedad.</a:t>
            </a:r>
            <a:endParaRPr lang="en-US" sz="1200" dirty="0"/>
          </a:p>
        </p:txBody>
      </p:sp>
      <p:sp>
        <p:nvSpPr>
          <p:cNvPr id="36" name="Shape 33"/>
          <p:cNvSpPr/>
          <p:nvPr/>
        </p:nvSpPr>
        <p:spPr>
          <a:xfrm>
            <a:off x="6675120" y="4032504"/>
            <a:ext cx="329184" cy="329184"/>
          </a:xfrm>
          <a:prstGeom prst="ellipse">
            <a:avLst/>
          </a:prstGeom>
          <a:solidFill>
            <a:srgbClr val="F2A93B"/>
          </a:solidFill>
          <a:ln/>
        </p:spPr>
      </p:sp>
      <p:sp>
        <p:nvSpPr>
          <p:cNvPr id="37" name="Text 34"/>
          <p:cNvSpPr txBox="1"/>
          <p:nvPr/>
        </p:nvSpPr>
        <p:spPr>
          <a:xfrm>
            <a:off x="6675120" y="4032504"/>
            <a:ext cx="329184" cy="32918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3</a:t>
            </a:r>
            <a:endParaRPr lang="en-US" sz="1400" dirty="0"/>
          </a:p>
        </p:txBody>
      </p:sp>
      <p:sp>
        <p:nvSpPr>
          <p:cNvPr id="38" name="Text 35"/>
          <p:cNvSpPr txBox="1"/>
          <p:nvPr/>
        </p:nvSpPr>
        <p:spPr>
          <a:xfrm>
            <a:off x="7178040" y="3977640"/>
            <a:ext cx="414497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Categorías convertidas a números</a:t>
            </a:r>
            <a:endParaRPr lang="en-US" sz="1350" dirty="0"/>
          </a:p>
        </p:txBody>
      </p:sp>
      <p:sp>
        <p:nvSpPr>
          <p:cNvPr id="39" name="Text 36"/>
          <p:cNvSpPr txBox="1"/>
          <p:nvPr/>
        </p:nvSpPr>
        <p:spPr>
          <a:xfrm>
            <a:off x="7178040" y="4251960"/>
            <a:ext cx="4144975" cy="457200"/>
          </a:xfrm>
          <a:prstGeom prst="rect">
            <a:avLst/>
          </a:prstGeom>
          <a:noFill/>
          <a:ln/>
        </p:spPr>
        <p:txBody>
          <a:bodyPr wrap="square" lIns="0" tIns="0" rIns="0" bIns="0" rtlCol="0" anchor="t"/>
          <a:lstStyle/>
          <a:p>
            <a:pPr indent="0" marL="0">
              <a:lnSpc>
                <a:spcPct val="105000"/>
              </a:lnSpc>
              <a:buNone/>
            </a:pPr>
            <a:r>
              <a:rPr lang="en-US" sz="1200" dirty="0">
                <a:solidFill>
                  <a:srgbClr val="D5ECE9"/>
                </a:solidFill>
                <a:latin typeface="Calibri" pitchFamily="34" charset="0"/>
                <a:ea typeface="Calibri" pitchFamily="34" charset="-122"/>
                <a:cs typeface="Calibri" pitchFamily="34" charset="-120"/>
              </a:rPr>
              <a:t>tamaño de empresa con orden (Pequeña a Grande); sector, contrato y pago puntual codificados.</a:t>
            </a:r>
            <a:endParaRPr lang="en-US" sz="1200" dirty="0"/>
          </a:p>
        </p:txBody>
      </p:sp>
      <p:sp>
        <p:nvSpPr>
          <p:cNvPr id="40" name="Shape 37"/>
          <p:cNvSpPr/>
          <p:nvPr/>
        </p:nvSpPr>
        <p:spPr>
          <a:xfrm>
            <a:off x="6675120" y="4782312"/>
            <a:ext cx="329184" cy="329184"/>
          </a:xfrm>
          <a:prstGeom prst="ellipse">
            <a:avLst/>
          </a:prstGeom>
          <a:solidFill>
            <a:srgbClr val="F2A93B"/>
          </a:solidFill>
          <a:ln/>
        </p:spPr>
      </p:sp>
      <p:sp>
        <p:nvSpPr>
          <p:cNvPr id="41" name="Text 38"/>
          <p:cNvSpPr txBox="1"/>
          <p:nvPr/>
        </p:nvSpPr>
        <p:spPr>
          <a:xfrm>
            <a:off x="6675120" y="4782312"/>
            <a:ext cx="329184" cy="32918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4</a:t>
            </a:r>
            <a:endParaRPr lang="en-US" sz="1400" dirty="0"/>
          </a:p>
        </p:txBody>
      </p:sp>
      <p:sp>
        <p:nvSpPr>
          <p:cNvPr id="42" name="Text 39"/>
          <p:cNvSpPr txBox="1"/>
          <p:nvPr/>
        </p:nvSpPr>
        <p:spPr>
          <a:xfrm>
            <a:off x="7178040" y="4727448"/>
            <a:ext cx="414497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Misma escala</a:t>
            </a:r>
            <a:endParaRPr lang="en-US" sz="1350" dirty="0"/>
          </a:p>
        </p:txBody>
      </p:sp>
      <p:sp>
        <p:nvSpPr>
          <p:cNvPr id="43" name="Text 40"/>
          <p:cNvSpPr txBox="1"/>
          <p:nvPr/>
        </p:nvSpPr>
        <p:spPr>
          <a:xfrm>
            <a:off x="7178040" y="5001768"/>
            <a:ext cx="4144975" cy="457200"/>
          </a:xfrm>
          <a:prstGeom prst="rect">
            <a:avLst/>
          </a:prstGeom>
          <a:noFill/>
          <a:ln/>
        </p:spPr>
        <p:txBody>
          <a:bodyPr wrap="square" lIns="0" tIns="0" rIns="0" bIns="0" rtlCol="0" anchor="t"/>
          <a:lstStyle/>
          <a:p>
            <a:pPr indent="0" marL="0">
              <a:lnSpc>
                <a:spcPct val="105000"/>
              </a:lnSpc>
              <a:buNone/>
            </a:pPr>
            <a:r>
              <a:rPr lang="en-US" sz="1200" dirty="0">
                <a:solidFill>
                  <a:srgbClr val="D5ECE9"/>
                </a:solidFill>
                <a:latin typeface="Calibri" pitchFamily="34" charset="0"/>
                <a:ea typeface="Calibri" pitchFamily="34" charset="-122"/>
                <a:cs typeface="Calibri" pitchFamily="34" charset="-120"/>
              </a:rPr>
              <a:t>las variables numéricas se llevaron a una escala común para poder compararlas.</a:t>
            </a:r>
            <a:endParaRPr lang="en-US" sz="1200" dirty="0"/>
          </a:p>
        </p:txBody>
      </p:sp>
      <p:sp>
        <p:nvSpPr>
          <p:cNvPr id="44" name="Shape 41"/>
          <p:cNvSpPr/>
          <p:nvPr/>
        </p:nvSpPr>
        <p:spPr>
          <a:xfrm>
            <a:off x="6675120" y="5532120"/>
            <a:ext cx="329184" cy="329184"/>
          </a:xfrm>
          <a:prstGeom prst="ellipse">
            <a:avLst/>
          </a:prstGeom>
          <a:solidFill>
            <a:srgbClr val="F2A93B"/>
          </a:solidFill>
          <a:ln/>
        </p:spPr>
      </p:sp>
      <p:sp>
        <p:nvSpPr>
          <p:cNvPr id="45" name="Text 42"/>
          <p:cNvSpPr txBox="1"/>
          <p:nvPr/>
        </p:nvSpPr>
        <p:spPr>
          <a:xfrm>
            <a:off x="6675120" y="5532120"/>
            <a:ext cx="329184" cy="329184"/>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5</a:t>
            </a:r>
            <a:endParaRPr lang="en-US" sz="1400" dirty="0"/>
          </a:p>
        </p:txBody>
      </p:sp>
      <p:sp>
        <p:nvSpPr>
          <p:cNvPr id="46" name="Text 43"/>
          <p:cNvSpPr txBox="1"/>
          <p:nvPr/>
        </p:nvSpPr>
        <p:spPr>
          <a:xfrm>
            <a:off x="7178040" y="5477256"/>
            <a:ext cx="4144975"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Sin mirar los datos de prueba</a:t>
            </a:r>
            <a:endParaRPr lang="en-US" sz="1350" dirty="0"/>
          </a:p>
        </p:txBody>
      </p:sp>
      <p:sp>
        <p:nvSpPr>
          <p:cNvPr id="47" name="Text 44"/>
          <p:cNvSpPr txBox="1"/>
          <p:nvPr/>
        </p:nvSpPr>
        <p:spPr>
          <a:xfrm>
            <a:off x="7178040" y="5751576"/>
            <a:ext cx="4144975" cy="457200"/>
          </a:xfrm>
          <a:prstGeom prst="rect">
            <a:avLst/>
          </a:prstGeom>
          <a:noFill/>
          <a:ln/>
        </p:spPr>
        <p:txBody>
          <a:bodyPr wrap="square" lIns="0" tIns="0" rIns="0" bIns="0" rtlCol="0" anchor="t"/>
          <a:lstStyle/>
          <a:p>
            <a:pPr indent="0" marL="0">
              <a:lnSpc>
                <a:spcPct val="105000"/>
              </a:lnSpc>
              <a:buNone/>
            </a:pPr>
            <a:r>
              <a:rPr lang="en-US" sz="1200" dirty="0">
                <a:solidFill>
                  <a:srgbClr val="D5ECE9"/>
                </a:solidFill>
                <a:latin typeface="Calibri" pitchFamily="34" charset="0"/>
                <a:ea typeface="Calibri" pitchFamily="34" charset="-122"/>
                <a:cs typeface="Calibri" pitchFamily="34" charset="-120"/>
              </a:rPr>
              <a:t>todo se calculó solo con los datos de entrenamiento.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12191695" cy="1097280"/>
          </a:xfrm>
          <a:prstGeom prst="rect">
            <a:avLst/>
          </a:prstGeom>
          <a:solidFill>
            <a:srgbClr val="0F3D3E"/>
          </a:solidFill>
          <a:ln/>
        </p:spPr>
      </p:sp>
      <p:sp>
        <p:nvSpPr>
          <p:cNvPr id="3" name="Shape 1"/>
          <p:cNvSpPr/>
          <p:nvPr/>
        </p:nvSpPr>
        <p:spPr>
          <a:xfrm>
            <a:off x="0" y="1097280"/>
            <a:ext cx="12191695" cy="64008"/>
          </a:xfrm>
          <a:prstGeom prst="rect">
            <a:avLst/>
          </a:prstGeom>
          <a:solidFill>
            <a:srgbClr val="F2A93B"/>
          </a:solidFill>
          <a:ln/>
        </p:spPr>
      </p:sp>
      <p:sp>
        <p:nvSpPr>
          <p:cNvPr id="4" name="Text 2"/>
          <p:cNvSpPr txBox="1"/>
          <p:nvPr/>
        </p:nvSpPr>
        <p:spPr>
          <a:xfrm>
            <a:off x="548640" y="256032"/>
            <a:ext cx="969264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Resultados del modelo</a:t>
            </a:r>
            <a:endParaRPr lang="en-US" sz="2800" dirty="0"/>
          </a:p>
        </p:txBody>
      </p:sp>
      <p:sp>
        <p:nvSpPr>
          <p:cNvPr id="5" name="Shape 3"/>
          <p:cNvSpPr/>
          <p:nvPr/>
        </p:nvSpPr>
        <p:spPr>
          <a:xfrm>
            <a:off x="10561320" y="347472"/>
            <a:ext cx="1078992" cy="402336"/>
          </a:xfrm>
          <a:prstGeom prst="roundRect">
            <a:avLst>
              <a:gd name="adj" fmla="val 50000"/>
            </a:avLst>
          </a:prstGeom>
          <a:solidFill>
            <a:srgbClr val="F2A93B"/>
          </a:solidFill>
          <a:ln/>
        </p:spPr>
      </p:sp>
      <p:sp>
        <p:nvSpPr>
          <p:cNvPr id="6" name="Text 4"/>
          <p:cNvSpPr txBox="1"/>
          <p:nvPr/>
        </p:nvSpPr>
        <p:spPr>
          <a:xfrm>
            <a:off x="10561320" y="347472"/>
            <a:ext cx="1078992" cy="402336"/>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3 / 4</a:t>
            </a:r>
            <a:endParaRPr lang="en-US" sz="1400" dirty="0"/>
          </a:p>
        </p:txBody>
      </p:sp>
      <p:sp>
        <p:nvSpPr>
          <p:cNvPr id="7" name="Text 5"/>
          <p:cNvSpPr txBox="1"/>
          <p:nvPr/>
        </p:nvSpPr>
        <p:spPr>
          <a:xfrm>
            <a:off x="548640" y="1280160"/>
            <a:ext cx="11094415" cy="320040"/>
          </a:xfrm>
          <a:prstGeom prst="rect">
            <a:avLst/>
          </a:prstGeom>
          <a:noFill/>
          <a:ln/>
        </p:spPr>
        <p:txBody>
          <a:bodyPr wrap="square" lIns="0" tIns="0" rIns="0" bIns="0" rtlCol="0" anchor="ctr"/>
          <a:lstStyle/>
          <a:p>
            <a:pPr indent="0" marL="0">
              <a:buNone/>
            </a:pPr>
            <a:r>
              <a:rPr lang="en-US" sz="1400" dirty="0">
                <a:solidFill>
                  <a:srgbClr val="5F6B6E"/>
                </a:solidFill>
                <a:latin typeface="Calibri" pitchFamily="34" charset="0"/>
                <a:ea typeface="Calibri" pitchFamily="34" charset="-122"/>
                <a:cs typeface="Calibri" pitchFamily="34" charset="-120"/>
              </a:rPr>
              <a:t>Regresión Lineal evaluada sobre el 20% de clientes que el modelo no vio al aprender</a:t>
            </a:r>
            <a:endParaRPr lang="en-US" sz="1400" dirty="0"/>
          </a:p>
        </p:txBody>
      </p:sp>
      <p:sp>
        <p:nvSpPr>
          <p:cNvPr id="9" name="Shape 6"/>
          <p:cNvSpPr/>
          <p:nvPr/>
        </p:nvSpPr>
        <p:spPr>
          <a:xfrm>
            <a:off x="548640" y="1783080"/>
            <a:ext cx="5410048" cy="1783080"/>
          </a:xfrm>
          <a:prstGeom prst="rect">
            <a:avLst/>
          </a:prstGeom>
          <a:solidFill>
            <a:srgbClr val="0F3D3E"/>
          </a:solidFill>
          <a:ln/>
        </p:spPr>
      </p:sp>
      <p:sp>
        <p:nvSpPr>
          <p:cNvPr id="10" name="Shape 7"/>
          <p:cNvSpPr/>
          <p:nvPr/>
        </p:nvSpPr>
        <p:spPr>
          <a:xfrm>
            <a:off x="548640" y="1783080"/>
            <a:ext cx="82296" cy="1783080"/>
          </a:xfrm>
          <a:prstGeom prst="rect">
            <a:avLst/>
          </a:prstGeom>
          <a:solidFill>
            <a:srgbClr val="F2A93B"/>
          </a:solidFill>
          <a:ln/>
        </p:spPr>
      </p:sp>
      <p:sp>
        <p:nvSpPr>
          <p:cNvPr id="11" name="Text 8"/>
          <p:cNvSpPr txBox="1"/>
          <p:nvPr/>
        </p:nvSpPr>
        <p:spPr>
          <a:xfrm>
            <a:off x="914400" y="1947672"/>
            <a:ext cx="4678528" cy="868680"/>
          </a:xfrm>
          <a:prstGeom prst="rect">
            <a:avLst/>
          </a:prstGeom>
          <a:noFill/>
          <a:ln/>
        </p:spPr>
        <p:txBody>
          <a:bodyPr wrap="square" lIns="0" tIns="0" rIns="0" bIns="0" rtlCol="0" anchor="ctr"/>
          <a:lstStyle/>
          <a:p>
            <a:pPr indent="0" marL="0">
              <a:buNone/>
            </a:pPr>
            <a:r>
              <a:rPr lang="en-US" sz="4800" b="1" dirty="0">
                <a:solidFill>
                  <a:srgbClr val="F2A93B"/>
                </a:solidFill>
                <a:latin typeface="Georgia" pitchFamily="34" charset="0"/>
                <a:ea typeface="Georgia" pitchFamily="34" charset="-122"/>
                <a:cs typeface="Georgia" pitchFamily="34" charset="-120"/>
              </a:rPr>
              <a:t>92,4%</a:t>
            </a:r>
            <a:endParaRPr lang="en-US" sz="4800" dirty="0"/>
          </a:p>
        </p:txBody>
      </p:sp>
      <p:sp>
        <p:nvSpPr>
          <p:cNvPr id="12" name="Text 9"/>
          <p:cNvSpPr txBox="1"/>
          <p:nvPr/>
        </p:nvSpPr>
        <p:spPr>
          <a:xfrm>
            <a:off x="914400" y="2834640"/>
            <a:ext cx="4678528" cy="640080"/>
          </a:xfrm>
          <a:prstGeom prst="rect">
            <a:avLst/>
          </a:prstGeom>
          <a:noFill/>
          <a:ln/>
        </p:spPr>
        <p:txBody>
          <a:bodyPr wrap="square" lIns="0" tIns="0" rIns="0" bIns="0" rtlCol="0" anchor="t"/>
          <a:lstStyle/>
          <a:p>
            <a:pPr indent="0" marL="0">
              <a:lnSpc>
                <a:spcPct val="108000"/>
              </a:lnSpc>
              <a:buNone/>
            </a:pPr>
            <a:r>
              <a:rPr lang="en-US" sz="1350" dirty="0">
                <a:solidFill>
                  <a:srgbClr val="FFFFFF"/>
                </a:solidFill>
                <a:latin typeface="Calibri" pitchFamily="34" charset="0"/>
                <a:ea typeface="Calibri" pitchFamily="34" charset="-122"/>
                <a:cs typeface="Calibri" pitchFamily="34" charset="-120"/>
              </a:rPr>
              <a:t>de las diferencias de MRR entre clientes queda explicada por el modelo (R²).</a:t>
            </a:r>
            <a:endParaRPr lang="en-US" sz="1350" dirty="0"/>
          </a:p>
        </p:txBody>
      </p:sp>
      <p:sp>
        <p:nvSpPr>
          <p:cNvPr id="13" name="Shape 10"/>
          <p:cNvSpPr/>
          <p:nvPr/>
        </p:nvSpPr>
        <p:spPr>
          <a:xfrm>
            <a:off x="6233008" y="1783080"/>
            <a:ext cx="5410048" cy="1783080"/>
          </a:xfrm>
          <a:prstGeom prst="rect">
            <a:avLst/>
          </a:prstGeom>
          <a:solidFill>
            <a:srgbClr val="0F3D3E"/>
          </a:solidFill>
          <a:ln/>
        </p:spPr>
      </p:sp>
      <p:sp>
        <p:nvSpPr>
          <p:cNvPr id="14" name="Shape 11"/>
          <p:cNvSpPr/>
          <p:nvPr/>
        </p:nvSpPr>
        <p:spPr>
          <a:xfrm>
            <a:off x="6233008" y="1783080"/>
            <a:ext cx="82296" cy="1783080"/>
          </a:xfrm>
          <a:prstGeom prst="rect">
            <a:avLst/>
          </a:prstGeom>
          <a:solidFill>
            <a:srgbClr val="F2A93B"/>
          </a:solidFill>
          <a:ln/>
        </p:spPr>
      </p:sp>
      <p:sp>
        <p:nvSpPr>
          <p:cNvPr id="15" name="Text 12"/>
          <p:cNvSpPr txBox="1"/>
          <p:nvPr/>
        </p:nvSpPr>
        <p:spPr>
          <a:xfrm>
            <a:off x="6598768" y="1947672"/>
            <a:ext cx="4678528" cy="868680"/>
          </a:xfrm>
          <a:prstGeom prst="rect">
            <a:avLst/>
          </a:prstGeom>
          <a:noFill/>
          <a:ln/>
        </p:spPr>
        <p:txBody>
          <a:bodyPr wrap="square" lIns="0" tIns="0" rIns="0" bIns="0" rtlCol="0" anchor="ctr"/>
          <a:lstStyle/>
          <a:p>
            <a:pPr indent="0" marL="0">
              <a:buNone/>
            </a:pPr>
            <a:r>
              <a:rPr lang="en-US" sz="4800" b="1" dirty="0">
                <a:solidFill>
                  <a:srgbClr val="F2A93B"/>
                </a:solidFill>
                <a:latin typeface="Georgia" pitchFamily="34" charset="0"/>
                <a:ea typeface="Georgia" pitchFamily="34" charset="-122"/>
                <a:cs typeface="Georgia" pitchFamily="34" charset="-120"/>
              </a:rPr>
              <a:t>≈ US$68</a:t>
            </a:r>
            <a:endParaRPr lang="en-US" sz="4800" dirty="0"/>
          </a:p>
        </p:txBody>
      </p:sp>
      <p:sp>
        <p:nvSpPr>
          <p:cNvPr id="16" name="Text 13"/>
          <p:cNvSpPr txBox="1"/>
          <p:nvPr/>
        </p:nvSpPr>
        <p:spPr>
          <a:xfrm>
            <a:off x="6598768" y="2834640"/>
            <a:ext cx="4678528" cy="640080"/>
          </a:xfrm>
          <a:prstGeom prst="rect">
            <a:avLst/>
          </a:prstGeom>
          <a:noFill/>
          <a:ln/>
        </p:spPr>
        <p:txBody>
          <a:bodyPr wrap="square" lIns="0" tIns="0" rIns="0" bIns="0" rtlCol="0" anchor="t"/>
          <a:lstStyle/>
          <a:p>
            <a:pPr indent="0" marL="0">
              <a:lnSpc>
                <a:spcPct val="108000"/>
              </a:lnSpc>
              <a:buNone/>
            </a:pPr>
            <a:r>
              <a:rPr lang="en-US" sz="1350" dirty="0">
                <a:solidFill>
                  <a:srgbClr val="FFFFFF"/>
                </a:solidFill>
                <a:latin typeface="Calibri" pitchFamily="34" charset="0"/>
                <a:ea typeface="Calibri" pitchFamily="34" charset="-122"/>
                <a:cs typeface="Calibri" pitchFamily="34" charset="-120"/>
              </a:rPr>
              <a:t>El modelo se equivoca en promedio ≈ US$68 por cliente, ≈ 9,6% del MRR promedio (≈ US$711).</a:t>
            </a:r>
            <a:endParaRPr lang="en-US" sz="1350" dirty="0"/>
          </a:p>
        </p:txBody>
      </p:sp>
      <p:sp>
        <p:nvSpPr>
          <p:cNvPr id="17" name="Shape 14"/>
          <p:cNvSpPr/>
          <p:nvPr/>
        </p:nvSpPr>
        <p:spPr>
          <a:xfrm>
            <a:off x="548640" y="3749040"/>
            <a:ext cx="3545738" cy="1783080"/>
          </a:xfrm>
          <a:prstGeom prst="rect">
            <a:avLst/>
          </a:prstGeom>
          <a:solidFill>
            <a:srgbClr val="FFFFFF"/>
          </a:solidFill>
          <a:ln w="9525">
            <a:solidFill>
              <a:srgbClr val="E4DCCB"/>
            </a:solidFill>
            <a:prstDash val="solid"/>
          </a:ln>
        </p:spPr>
      </p:sp>
      <p:sp>
        <p:nvSpPr>
          <p:cNvPr id="18" name="Shape 15"/>
          <p:cNvSpPr/>
          <p:nvPr/>
        </p:nvSpPr>
        <p:spPr>
          <a:xfrm>
            <a:off x="548640" y="3749040"/>
            <a:ext cx="82296" cy="1783080"/>
          </a:xfrm>
          <a:prstGeom prst="rect">
            <a:avLst/>
          </a:prstGeom>
          <a:solidFill>
            <a:srgbClr val="1B7F79"/>
          </a:solidFill>
          <a:ln/>
        </p:spPr>
      </p:sp>
      <p:sp>
        <p:nvSpPr>
          <p:cNvPr id="19" name="Text 16"/>
          <p:cNvSpPr txBox="1"/>
          <p:nvPr/>
        </p:nvSpPr>
        <p:spPr>
          <a:xfrm>
            <a:off x="822960" y="3886200"/>
            <a:ext cx="3088538" cy="411480"/>
          </a:xfrm>
          <a:prstGeom prst="rect">
            <a:avLst/>
          </a:prstGeom>
          <a:noFill/>
          <a:ln/>
        </p:spPr>
        <p:txBody>
          <a:bodyPr wrap="square" lIns="0" tIns="0" rIns="0" bIns="0" rtlCol="0" anchor="ctr"/>
          <a:lstStyle/>
          <a:p>
            <a:pPr indent="0" marL="0">
              <a:buNone/>
            </a:pPr>
            <a:r>
              <a:rPr lang="en-US" sz="1900" b="1" dirty="0">
                <a:solidFill>
                  <a:srgbClr val="1B7F79"/>
                </a:solidFill>
                <a:latin typeface="Georgia" pitchFamily="34" charset="0"/>
                <a:ea typeface="Georgia" pitchFamily="34" charset="-122"/>
                <a:cs typeface="Georgia" pitchFamily="34" charset="-120"/>
              </a:rPr>
              <a:t>US$267 → US$68</a:t>
            </a:r>
            <a:endParaRPr lang="en-US" sz="1900" dirty="0"/>
          </a:p>
        </p:txBody>
      </p:sp>
      <p:sp>
        <p:nvSpPr>
          <p:cNvPr id="20" name="Text 17"/>
          <p:cNvSpPr txBox="1"/>
          <p:nvPr/>
        </p:nvSpPr>
        <p:spPr>
          <a:xfrm>
            <a:off x="822960" y="4370832"/>
            <a:ext cx="3088538" cy="1097280"/>
          </a:xfrm>
          <a:prstGeom prst="rect">
            <a:avLst/>
          </a:prstGeom>
          <a:noFill/>
          <a:ln/>
        </p:spPr>
        <p:txBody>
          <a:bodyPr wrap="square" lIns="0" tIns="0" rIns="0" bIns="0" rtlCol="0" anchor="t"/>
          <a:lstStyle/>
          <a:p>
            <a:pPr indent="0" marL="0">
              <a:lnSpc>
                <a:spcPct val="110000"/>
              </a:lnSpc>
              <a:buNone/>
            </a:pPr>
            <a:r>
              <a:rPr lang="en-US" sz="1250" dirty="0">
                <a:solidFill>
                  <a:srgbClr val="1F2A2E"/>
                </a:solidFill>
                <a:latin typeface="Calibri" pitchFamily="34" charset="0"/>
                <a:ea typeface="Calibri" pitchFamily="34" charset="-122"/>
                <a:cs typeface="Calibri" pitchFamily="34" charset="-120"/>
              </a:rPr>
              <a:t>Sin modelo (predecir siempre el promedio) el error sería de ≈ US$267 por cliente. El modelo lo reduce ≈ 74%.</a:t>
            </a:r>
            <a:endParaRPr lang="en-US" sz="1250" dirty="0"/>
          </a:p>
        </p:txBody>
      </p:sp>
      <p:sp>
        <p:nvSpPr>
          <p:cNvPr id="21" name="Shape 18"/>
          <p:cNvSpPr/>
          <p:nvPr/>
        </p:nvSpPr>
        <p:spPr>
          <a:xfrm>
            <a:off x="4322978" y="3749040"/>
            <a:ext cx="3545738" cy="1783080"/>
          </a:xfrm>
          <a:prstGeom prst="rect">
            <a:avLst/>
          </a:prstGeom>
          <a:solidFill>
            <a:srgbClr val="FFFFFF"/>
          </a:solidFill>
          <a:ln w="9525">
            <a:solidFill>
              <a:srgbClr val="E4DCCB"/>
            </a:solidFill>
            <a:prstDash val="solid"/>
          </a:ln>
        </p:spPr>
      </p:sp>
      <p:sp>
        <p:nvSpPr>
          <p:cNvPr id="22" name="Shape 19"/>
          <p:cNvSpPr/>
          <p:nvPr/>
        </p:nvSpPr>
        <p:spPr>
          <a:xfrm>
            <a:off x="4322978" y="3749040"/>
            <a:ext cx="82296" cy="1783080"/>
          </a:xfrm>
          <a:prstGeom prst="rect">
            <a:avLst/>
          </a:prstGeom>
          <a:solidFill>
            <a:srgbClr val="1B7F79"/>
          </a:solidFill>
          <a:ln/>
        </p:spPr>
      </p:sp>
      <p:sp>
        <p:nvSpPr>
          <p:cNvPr id="23" name="Text 20"/>
          <p:cNvSpPr txBox="1"/>
          <p:nvPr/>
        </p:nvSpPr>
        <p:spPr>
          <a:xfrm>
            <a:off x="4597298" y="3886200"/>
            <a:ext cx="3088538" cy="411480"/>
          </a:xfrm>
          <a:prstGeom prst="rect">
            <a:avLst/>
          </a:prstGeom>
          <a:noFill/>
          <a:ln/>
        </p:spPr>
        <p:txBody>
          <a:bodyPr wrap="square" lIns="0" tIns="0" rIns="0" bIns="0" rtlCol="0" anchor="ctr"/>
          <a:lstStyle/>
          <a:p>
            <a:pPr indent="0" marL="0">
              <a:buNone/>
            </a:pPr>
            <a:r>
              <a:rPr lang="en-US" sz="1900" b="1" dirty="0">
                <a:solidFill>
                  <a:srgbClr val="1B7F79"/>
                </a:solidFill>
                <a:latin typeface="Georgia" pitchFamily="34" charset="0"/>
                <a:ea typeface="Georgia" pitchFamily="34" charset="-122"/>
                <a:cs typeface="Georgia" pitchFamily="34" charset="-120"/>
              </a:rPr>
              <a:t>80% ≤ US$106</a:t>
            </a:r>
            <a:endParaRPr lang="en-US" sz="1900" dirty="0"/>
          </a:p>
        </p:txBody>
      </p:sp>
      <p:sp>
        <p:nvSpPr>
          <p:cNvPr id="24" name="Text 21"/>
          <p:cNvSpPr txBox="1"/>
          <p:nvPr/>
        </p:nvSpPr>
        <p:spPr>
          <a:xfrm>
            <a:off x="4597298" y="4370832"/>
            <a:ext cx="3088538" cy="1097280"/>
          </a:xfrm>
          <a:prstGeom prst="rect">
            <a:avLst/>
          </a:prstGeom>
          <a:noFill/>
          <a:ln/>
        </p:spPr>
        <p:txBody>
          <a:bodyPr wrap="square" lIns="0" tIns="0" rIns="0" bIns="0" rtlCol="0" anchor="t"/>
          <a:lstStyle/>
          <a:p>
            <a:pPr indent="0" marL="0">
              <a:lnSpc>
                <a:spcPct val="110000"/>
              </a:lnSpc>
              <a:buNone/>
            </a:pPr>
            <a:r>
              <a:rPr lang="en-US" sz="1250" dirty="0">
                <a:solidFill>
                  <a:srgbClr val="1F2A2E"/>
                </a:solidFill>
                <a:latin typeface="Calibri" pitchFamily="34" charset="0"/>
                <a:ea typeface="Calibri" pitchFamily="34" charset="-122"/>
                <a:cs typeface="Calibri" pitchFamily="34" charset="-120"/>
              </a:rPr>
              <a:t>El 80% de los clientes tiene un error de US$106 o menos; el 5% más difícil supera los US$179.</a:t>
            </a:r>
            <a:endParaRPr lang="en-US" sz="1250" dirty="0"/>
          </a:p>
        </p:txBody>
      </p:sp>
      <p:sp>
        <p:nvSpPr>
          <p:cNvPr id="25" name="Shape 22"/>
          <p:cNvSpPr/>
          <p:nvPr/>
        </p:nvSpPr>
        <p:spPr>
          <a:xfrm>
            <a:off x="8097317" y="3749040"/>
            <a:ext cx="3545738" cy="1783080"/>
          </a:xfrm>
          <a:prstGeom prst="rect">
            <a:avLst/>
          </a:prstGeom>
          <a:solidFill>
            <a:srgbClr val="FFFFFF"/>
          </a:solidFill>
          <a:ln w="9525">
            <a:solidFill>
              <a:srgbClr val="E4DCCB"/>
            </a:solidFill>
            <a:prstDash val="solid"/>
          </a:ln>
        </p:spPr>
      </p:sp>
      <p:sp>
        <p:nvSpPr>
          <p:cNvPr id="26" name="Shape 23"/>
          <p:cNvSpPr/>
          <p:nvPr/>
        </p:nvSpPr>
        <p:spPr>
          <a:xfrm>
            <a:off x="8097317" y="3749040"/>
            <a:ext cx="82296" cy="1783080"/>
          </a:xfrm>
          <a:prstGeom prst="rect">
            <a:avLst/>
          </a:prstGeom>
          <a:solidFill>
            <a:srgbClr val="1B7F79"/>
          </a:solidFill>
          <a:ln/>
        </p:spPr>
      </p:sp>
      <p:sp>
        <p:nvSpPr>
          <p:cNvPr id="27" name="Text 24"/>
          <p:cNvSpPr txBox="1"/>
          <p:nvPr/>
        </p:nvSpPr>
        <p:spPr>
          <a:xfrm>
            <a:off x="8371637" y="3886200"/>
            <a:ext cx="3088538" cy="411480"/>
          </a:xfrm>
          <a:prstGeom prst="rect">
            <a:avLst/>
          </a:prstGeom>
          <a:noFill/>
          <a:ln/>
        </p:spPr>
        <p:txBody>
          <a:bodyPr wrap="square" lIns="0" tIns="0" rIns="0" bIns="0" rtlCol="0" anchor="ctr"/>
          <a:lstStyle/>
          <a:p>
            <a:pPr indent="0" marL="0">
              <a:buNone/>
            </a:pPr>
            <a:r>
              <a:rPr lang="en-US" sz="1900" b="1" dirty="0">
                <a:solidFill>
                  <a:srgbClr val="1B7F79"/>
                </a:solidFill>
                <a:latin typeface="Georgia" pitchFamily="34" charset="0"/>
                <a:ea typeface="Georgia" pitchFamily="34" charset="-122"/>
                <a:cs typeface="Georgia" pitchFamily="34" charset="-120"/>
              </a:rPr>
              <a:t>Cartera &gt; cliente</a:t>
            </a:r>
            <a:endParaRPr lang="en-US" sz="1900" dirty="0"/>
          </a:p>
        </p:txBody>
      </p:sp>
      <p:sp>
        <p:nvSpPr>
          <p:cNvPr id="28" name="Text 25"/>
          <p:cNvSpPr txBox="1"/>
          <p:nvPr/>
        </p:nvSpPr>
        <p:spPr>
          <a:xfrm>
            <a:off x="8371637" y="4370832"/>
            <a:ext cx="3088538" cy="1097280"/>
          </a:xfrm>
          <a:prstGeom prst="rect">
            <a:avLst/>
          </a:prstGeom>
          <a:noFill/>
          <a:ln/>
        </p:spPr>
        <p:txBody>
          <a:bodyPr wrap="square" lIns="0" tIns="0" rIns="0" bIns="0" rtlCol="0" anchor="t"/>
          <a:lstStyle/>
          <a:p>
            <a:pPr indent="0" marL="0">
              <a:lnSpc>
                <a:spcPct val="110000"/>
              </a:lnSpc>
              <a:buNone/>
            </a:pPr>
            <a:r>
              <a:rPr lang="en-US" sz="1250" dirty="0">
                <a:solidFill>
                  <a:srgbClr val="1F2A2E"/>
                </a:solidFill>
                <a:latin typeface="Calibri" pitchFamily="34" charset="0"/>
                <a:ea typeface="Calibri" pitchFamily="34" charset="-122"/>
                <a:cs typeface="Calibri" pitchFamily="34" charset="-120"/>
              </a:rPr>
              <a:t>Los errores se compensan: el MRR total de la cartera es más confiable que el de un cliente puntual. En clientes pequeños el error relativo es mayor.</a:t>
            </a:r>
            <a:endParaRPr lang="en-US" sz="1250" dirty="0"/>
          </a:p>
        </p:txBody>
      </p:sp>
      <p:sp>
        <p:nvSpPr>
          <p:cNvPr id="29" name="Shape 26"/>
          <p:cNvSpPr/>
          <p:nvPr/>
        </p:nvSpPr>
        <p:spPr>
          <a:xfrm>
            <a:off x="548640" y="5669280"/>
            <a:ext cx="11094415" cy="658368"/>
          </a:xfrm>
          <a:prstGeom prst="rect">
            <a:avLst/>
          </a:prstGeom>
          <a:solidFill>
            <a:srgbClr val="D5ECE9"/>
          </a:solidFill>
          <a:ln/>
        </p:spPr>
      </p:sp>
      <p:sp>
        <p:nvSpPr>
          <p:cNvPr id="30" name="Text 27"/>
          <p:cNvSpPr txBox="1"/>
          <p:nvPr/>
        </p:nvSpPr>
        <p:spPr>
          <a:xfrm>
            <a:off x="868680" y="5669280"/>
            <a:ext cx="10454335" cy="658368"/>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Resultado estable: </a:t>
            </a:r>
            <a:pPr indent="0" marL="0">
              <a:buNone/>
            </a:pPr>
            <a:r>
              <a:rPr lang="en-US" sz="1350" dirty="0">
                <a:solidFill>
                  <a:srgbClr val="1F2A2E"/>
                </a:solidFill>
                <a:latin typeface="Calibri" pitchFamily="34" charset="0"/>
                <a:ea typeface="Calibri" pitchFamily="34" charset="-122"/>
                <a:cs typeface="Calibri" pitchFamily="34" charset="-120"/>
              </a:rPr>
              <a:t>se repite en 5 pruebas distintas (R² entre 0,91 y 0,92) y no depende de una partición de los datos.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E"/>
        </a:solidFill>
      </p:bgPr>
    </p:bg>
    <p:spTree>
      <p:nvGrpSpPr>
        <p:cNvPr id="1" name=""/>
        <p:cNvGrpSpPr/>
        <p:nvPr/>
      </p:nvGrpSpPr>
      <p:grpSpPr>
        <a:xfrm>
          <a:off x="0" y="0"/>
          <a:ext cx="0" cy="0"/>
          <a:chOff x="0" y="0"/>
          <a:chExt cx="0" cy="0"/>
        </a:xfrm>
      </p:grpSpPr>
      <p:sp>
        <p:nvSpPr>
          <p:cNvPr id="2" name="Shape 0"/>
          <p:cNvSpPr/>
          <p:nvPr/>
        </p:nvSpPr>
        <p:spPr>
          <a:xfrm>
            <a:off x="0" y="0"/>
            <a:ext cx="12191695" cy="1097280"/>
          </a:xfrm>
          <a:prstGeom prst="rect">
            <a:avLst/>
          </a:prstGeom>
          <a:solidFill>
            <a:srgbClr val="0F3D3E"/>
          </a:solidFill>
          <a:ln/>
        </p:spPr>
      </p:sp>
      <p:sp>
        <p:nvSpPr>
          <p:cNvPr id="3" name="Shape 1"/>
          <p:cNvSpPr/>
          <p:nvPr/>
        </p:nvSpPr>
        <p:spPr>
          <a:xfrm>
            <a:off x="0" y="1097280"/>
            <a:ext cx="12191695" cy="64008"/>
          </a:xfrm>
          <a:prstGeom prst="rect">
            <a:avLst/>
          </a:prstGeom>
          <a:solidFill>
            <a:srgbClr val="F2A93B"/>
          </a:solidFill>
          <a:ln/>
        </p:spPr>
      </p:sp>
      <p:sp>
        <p:nvSpPr>
          <p:cNvPr id="4" name="Text 2"/>
          <p:cNvSpPr txBox="1"/>
          <p:nvPr/>
        </p:nvSpPr>
        <p:spPr>
          <a:xfrm>
            <a:off x="548640" y="256032"/>
            <a:ext cx="9692640" cy="59436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Recomendaciones estratégicas</a:t>
            </a:r>
            <a:endParaRPr lang="en-US" sz="2800" dirty="0"/>
          </a:p>
        </p:txBody>
      </p:sp>
      <p:sp>
        <p:nvSpPr>
          <p:cNvPr id="5" name="Shape 3"/>
          <p:cNvSpPr/>
          <p:nvPr/>
        </p:nvSpPr>
        <p:spPr>
          <a:xfrm>
            <a:off x="10561320" y="347472"/>
            <a:ext cx="1078992" cy="402336"/>
          </a:xfrm>
          <a:prstGeom prst="roundRect">
            <a:avLst>
              <a:gd name="adj" fmla="val 50000"/>
            </a:avLst>
          </a:prstGeom>
          <a:solidFill>
            <a:srgbClr val="F2A93B"/>
          </a:solidFill>
          <a:ln/>
        </p:spPr>
      </p:sp>
      <p:sp>
        <p:nvSpPr>
          <p:cNvPr id="6" name="Text 4"/>
          <p:cNvSpPr txBox="1"/>
          <p:nvPr/>
        </p:nvSpPr>
        <p:spPr>
          <a:xfrm>
            <a:off x="10561320" y="347472"/>
            <a:ext cx="1078992" cy="402336"/>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4 / 4</a:t>
            </a:r>
            <a:endParaRPr lang="en-US" sz="1400" dirty="0"/>
          </a:p>
        </p:txBody>
      </p:sp>
      <p:sp>
        <p:nvSpPr>
          <p:cNvPr id="7" name="Text 5"/>
          <p:cNvSpPr txBox="1"/>
          <p:nvPr/>
        </p:nvSpPr>
        <p:spPr>
          <a:xfrm>
            <a:off x="548640" y="1280160"/>
            <a:ext cx="11094415" cy="320040"/>
          </a:xfrm>
          <a:prstGeom prst="rect">
            <a:avLst/>
          </a:prstGeom>
          <a:noFill/>
          <a:ln/>
        </p:spPr>
        <p:txBody>
          <a:bodyPr wrap="square" lIns="0" tIns="0" rIns="0" bIns="0" rtlCol="0" anchor="ctr"/>
          <a:lstStyle/>
          <a:p>
            <a:pPr indent="0" marL="0">
              <a:buNone/>
            </a:pPr>
            <a:r>
              <a:rPr lang="en-US" sz="1400" dirty="0">
                <a:solidFill>
                  <a:srgbClr val="5F6B6E"/>
                </a:solidFill>
                <a:latin typeface="Calibri" pitchFamily="34" charset="0"/>
                <a:ea typeface="Calibri" pitchFamily="34" charset="-122"/>
                <a:cs typeface="Calibri" pitchFamily="34" charset="-120"/>
              </a:rPr>
              <a:t>Qué variables se asocian más al MRR futuro y qué hacer con ello</a:t>
            </a:r>
            <a:endParaRPr lang="en-US" sz="1400" dirty="0"/>
          </a:p>
        </p:txBody>
      </p:sp>
      <p:sp>
        <p:nvSpPr>
          <p:cNvPr id="9" name="Text 6"/>
          <p:cNvSpPr txBox="1"/>
          <p:nvPr/>
        </p:nvSpPr>
        <p:spPr>
          <a:xfrm>
            <a:off x="548640" y="1737360"/>
            <a:ext cx="6400800" cy="320040"/>
          </a:xfrm>
          <a:prstGeom prst="rect">
            <a:avLst/>
          </a:prstGeom>
          <a:noFill/>
          <a:ln/>
        </p:spPr>
        <p:txBody>
          <a:bodyPr wrap="square" lIns="0" tIns="0" rIns="0" bIns="0" rtlCol="0" anchor="ctr"/>
          <a:lstStyle/>
          <a:p>
            <a:pPr indent="0" marL="0">
              <a:buNone/>
            </a:pPr>
            <a:r>
              <a:rPr lang="en-US" sz="1400" b="1" dirty="0">
                <a:solidFill>
                  <a:srgbClr val="0F3D3E"/>
                </a:solidFill>
                <a:latin typeface="Calibri" pitchFamily="34" charset="0"/>
                <a:ea typeface="Calibri" pitchFamily="34" charset="-122"/>
                <a:cs typeface="Calibri" pitchFamily="34" charset="-120"/>
              </a:rPr>
              <a:t>Efecto en el MRR por 1 desviación estándar (US$, resto constante)</a:t>
            </a:r>
            <a:endParaRPr lang="en-US" sz="1400" dirty="0"/>
          </a:p>
        </p:txBody>
      </p:sp>
      <p:sp>
        <p:nvSpPr>
          <p:cNvPr id="10" name="Shape 7"/>
          <p:cNvSpPr/>
          <p:nvPr/>
        </p:nvSpPr>
        <p:spPr>
          <a:xfrm>
            <a:off x="548640" y="2103120"/>
            <a:ext cx="6400800" cy="3429000"/>
          </a:xfrm>
          <a:prstGeom prst="rect">
            <a:avLst/>
          </a:prstGeom>
          <a:solidFill>
            <a:srgbClr val="FFFFFF"/>
          </a:solidFill>
          <a:ln w="9525">
            <a:solidFill>
              <a:srgbClr val="E4DCCB"/>
            </a:solidFill>
            <a:prstDash val="solid"/>
          </a:ln>
        </p:spPr>
      </p:sp>
      <p:graphicFrame>
        <p:nvGraphicFramePr>
          <p:cNvPr id="11" name="Chart 0" descr=""/>
          <p:cNvGraphicFramePr/>
          <p:nvPr/>
        </p:nvGraphicFramePr>
        <p:xfrm>
          <a:off x="640080" y="2148840"/>
          <a:ext cx="6217920" cy="333756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548640" y="5669280"/>
            <a:ext cx="6400800" cy="658368"/>
          </a:xfrm>
          <a:prstGeom prst="rect">
            <a:avLst/>
          </a:prstGeom>
          <a:solidFill>
            <a:srgbClr val="D5ECE9"/>
          </a:solidFill>
          <a:ln/>
        </p:spPr>
      </p:sp>
      <p:sp>
        <p:nvSpPr>
          <p:cNvPr id="13" name="Text 9"/>
          <p:cNvSpPr txBox="1"/>
          <p:nvPr/>
        </p:nvSpPr>
        <p:spPr>
          <a:xfrm>
            <a:off x="822960" y="5669280"/>
            <a:ext cx="5852160" cy="658368"/>
          </a:xfrm>
          <a:prstGeom prst="rect">
            <a:avLst/>
          </a:prstGeom>
          <a:noFill/>
          <a:ln/>
        </p:spPr>
        <p:txBody>
          <a:bodyPr wrap="square" lIns="0" tIns="0" rIns="0" bIns="0" rtlCol="0" anchor="ctr"/>
          <a:lstStyle/>
          <a:p>
            <a:pPr indent="0" marL="0">
              <a:buNone/>
            </a:pPr>
            <a:r>
              <a:rPr lang="en-US" sz="1350" b="1" dirty="0">
                <a:solidFill>
                  <a:srgbClr val="0F3D3E"/>
                </a:solidFill>
                <a:latin typeface="Calibri" pitchFamily="34" charset="0"/>
                <a:ea typeface="Calibri" pitchFamily="34" charset="-122"/>
                <a:cs typeface="Calibri" pitchFamily="34" charset="-120"/>
              </a:rPr>
              <a:t>Sector y antigüedad no aportan una vez controlado el resto.</a:t>
            </a:r>
            <a:endParaRPr lang="en-US" sz="1350" dirty="0"/>
          </a:p>
        </p:txBody>
      </p:sp>
      <p:sp>
        <p:nvSpPr>
          <p:cNvPr id="14" name="Text 10"/>
          <p:cNvSpPr txBox="1"/>
          <p:nvPr/>
        </p:nvSpPr>
        <p:spPr>
          <a:xfrm>
            <a:off x="7269480" y="1737360"/>
            <a:ext cx="4373575" cy="320040"/>
          </a:xfrm>
          <a:prstGeom prst="rect">
            <a:avLst/>
          </a:prstGeom>
          <a:noFill/>
          <a:ln/>
        </p:spPr>
        <p:txBody>
          <a:bodyPr wrap="square" lIns="0" tIns="0" rIns="0" bIns="0" rtlCol="0" anchor="ctr"/>
          <a:lstStyle/>
          <a:p>
            <a:pPr indent="0" marL="0">
              <a:buNone/>
            </a:pPr>
            <a:r>
              <a:rPr lang="en-US" sz="1400" b="1" dirty="0">
                <a:solidFill>
                  <a:srgbClr val="0F3D3E"/>
                </a:solidFill>
                <a:latin typeface="Calibri" pitchFamily="34" charset="0"/>
                <a:ea typeface="Calibri" pitchFamily="34" charset="-122"/>
                <a:cs typeface="Calibri" pitchFamily="34" charset="-120"/>
              </a:rPr>
              <a:t>Tres acciones para Customer Success</a:t>
            </a:r>
            <a:endParaRPr lang="en-US" sz="1400" dirty="0"/>
          </a:p>
        </p:txBody>
      </p:sp>
      <p:sp>
        <p:nvSpPr>
          <p:cNvPr id="15" name="Shape 11"/>
          <p:cNvSpPr/>
          <p:nvPr/>
        </p:nvSpPr>
        <p:spPr>
          <a:xfrm>
            <a:off x="7269480" y="2103120"/>
            <a:ext cx="4373575" cy="960120"/>
          </a:xfrm>
          <a:prstGeom prst="rect">
            <a:avLst/>
          </a:prstGeom>
          <a:solidFill>
            <a:srgbClr val="0F3D3E"/>
          </a:solidFill>
          <a:ln/>
        </p:spPr>
      </p:sp>
      <p:sp>
        <p:nvSpPr>
          <p:cNvPr id="16" name="Shape 12"/>
          <p:cNvSpPr/>
          <p:nvPr/>
        </p:nvSpPr>
        <p:spPr>
          <a:xfrm>
            <a:off x="7498080" y="2391156"/>
            <a:ext cx="384048" cy="384048"/>
          </a:xfrm>
          <a:prstGeom prst="ellipse">
            <a:avLst/>
          </a:prstGeom>
          <a:solidFill>
            <a:srgbClr val="F2A93B"/>
          </a:solidFill>
          <a:ln/>
        </p:spPr>
      </p:sp>
      <p:sp>
        <p:nvSpPr>
          <p:cNvPr id="17" name="Text 13"/>
          <p:cNvSpPr txBox="1"/>
          <p:nvPr/>
        </p:nvSpPr>
        <p:spPr>
          <a:xfrm>
            <a:off x="7498080" y="2391156"/>
            <a:ext cx="384048" cy="384048"/>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1</a:t>
            </a:r>
            <a:endParaRPr lang="en-US" sz="1400" dirty="0"/>
          </a:p>
        </p:txBody>
      </p:sp>
      <p:sp>
        <p:nvSpPr>
          <p:cNvPr id="18" name="Text 14"/>
          <p:cNvSpPr txBox="1"/>
          <p:nvPr/>
        </p:nvSpPr>
        <p:spPr>
          <a:xfrm>
            <a:off x="8046720" y="2103120"/>
            <a:ext cx="3413455" cy="960120"/>
          </a:xfrm>
          <a:prstGeom prst="rect">
            <a:avLst/>
          </a:prstGeom>
          <a:noFill/>
          <a:ln/>
        </p:spPr>
        <p:txBody>
          <a:bodyPr wrap="square" lIns="0" tIns="0" rIns="0" bIns="0" rtlCol="0" anchor="ctr"/>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Contactar de forma proactiva a cuentas con muchos tickets y bajo uso: se asocian a menor MRR.</a:t>
            </a:r>
            <a:endParaRPr lang="en-US" sz="1250" dirty="0"/>
          </a:p>
        </p:txBody>
      </p:sp>
      <p:sp>
        <p:nvSpPr>
          <p:cNvPr id="19" name="Shape 15"/>
          <p:cNvSpPr/>
          <p:nvPr/>
        </p:nvSpPr>
        <p:spPr>
          <a:xfrm>
            <a:off x="7269480" y="3200400"/>
            <a:ext cx="4373575" cy="960120"/>
          </a:xfrm>
          <a:prstGeom prst="rect">
            <a:avLst/>
          </a:prstGeom>
          <a:solidFill>
            <a:srgbClr val="0F3D3E"/>
          </a:solidFill>
          <a:ln/>
        </p:spPr>
      </p:sp>
      <p:sp>
        <p:nvSpPr>
          <p:cNvPr id="20" name="Shape 16"/>
          <p:cNvSpPr/>
          <p:nvPr/>
        </p:nvSpPr>
        <p:spPr>
          <a:xfrm>
            <a:off x="7498080" y="3488436"/>
            <a:ext cx="384048" cy="384048"/>
          </a:xfrm>
          <a:prstGeom prst="ellipse">
            <a:avLst/>
          </a:prstGeom>
          <a:solidFill>
            <a:srgbClr val="F2A93B"/>
          </a:solidFill>
          <a:ln/>
        </p:spPr>
      </p:sp>
      <p:sp>
        <p:nvSpPr>
          <p:cNvPr id="21" name="Text 17"/>
          <p:cNvSpPr txBox="1"/>
          <p:nvPr/>
        </p:nvSpPr>
        <p:spPr>
          <a:xfrm>
            <a:off x="7498080" y="3488436"/>
            <a:ext cx="384048" cy="384048"/>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2</a:t>
            </a:r>
            <a:endParaRPr lang="en-US" sz="1400" dirty="0"/>
          </a:p>
        </p:txBody>
      </p:sp>
      <p:sp>
        <p:nvSpPr>
          <p:cNvPr id="22" name="Text 18"/>
          <p:cNvSpPr txBox="1"/>
          <p:nvPr/>
        </p:nvSpPr>
        <p:spPr>
          <a:xfrm>
            <a:off x="8046720" y="3200400"/>
            <a:ext cx="3413455" cy="960120"/>
          </a:xfrm>
          <a:prstGeom prst="rect">
            <a:avLst/>
          </a:prstGeom>
          <a:noFill/>
          <a:ln/>
        </p:spPr>
        <p:txBody>
          <a:bodyPr wrap="square" lIns="0" tIns="0" rIns="0" bIns="0" rtlCol="0" anchor="ctr"/>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Explorar pasar contratos Mensuales a Anuales o 2 Años; validarlo antes de generalizar (posible sesgo de selección).</a:t>
            </a:r>
            <a:endParaRPr lang="en-US" sz="1250" dirty="0"/>
          </a:p>
        </p:txBody>
      </p:sp>
      <p:sp>
        <p:nvSpPr>
          <p:cNvPr id="23" name="Shape 19"/>
          <p:cNvSpPr/>
          <p:nvPr/>
        </p:nvSpPr>
        <p:spPr>
          <a:xfrm>
            <a:off x="7269480" y="4297680"/>
            <a:ext cx="4373575" cy="960120"/>
          </a:xfrm>
          <a:prstGeom prst="rect">
            <a:avLst/>
          </a:prstGeom>
          <a:solidFill>
            <a:srgbClr val="0F3D3E"/>
          </a:solidFill>
          <a:ln/>
        </p:spPr>
      </p:sp>
      <p:sp>
        <p:nvSpPr>
          <p:cNvPr id="24" name="Shape 20"/>
          <p:cNvSpPr/>
          <p:nvPr/>
        </p:nvSpPr>
        <p:spPr>
          <a:xfrm>
            <a:off x="7498080" y="4585716"/>
            <a:ext cx="384048" cy="384048"/>
          </a:xfrm>
          <a:prstGeom prst="ellipse">
            <a:avLst/>
          </a:prstGeom>
          <a:solidFill>
            <a:srgbClr val="F2A93B"/>
          </a:solidFill>
          <a:ln/>
        </p:spPr>
      </p:sp>
      <p:sp>
        <p:nvSpPr>
          <p:cNvPr id="25" name="Text 21"/>
          <p:cNvSpPr txBox="1"/>
          <p:nvPr/>
        </p:nvSpPr>
        <p:spPr>
          <a:xfrm>
            <a:off x="7498080" y="4585716"/>
            <a:ext cx="384048" cy="384048"/>
          </a:xfrm>
          <a:prstGeom prst="rect">
            <a:avLst/>
          </a:prstGeom>
          <a:noFill/>
          <a:ln/>
        </p:spPr>
        <p:txBody>
          <a:bodyPr wrap="square" lIns="0" tIns="0" rIns="0" bIns="0" rtlCol="0" anchor="ctr"/>
          <a:lstStyle/>
          <a:p>
            <a:pPr algn="ctr" indent="0" marL="0">
              <a:buNone/>
            </a:pPr>
            <a:r>
              <a:rPr lang="en-US" sz="1400" b="1" dirty="0">
                <a:solidFill>
                  <a:srgbClr val="0F3D3E"/>
                </a:solidFill>
                <a:latin typeface="Calibri" pitchFamily="34" charset="0"/>
                <a:ea typeface="Calibri" pitchFamily="34" charset="-122"/>
                <a:cs typeface="Calibri" pitchFamily="34" charset="-120"/>
              </a:rPr>
              <a:t>3</a:t>
            </a:r>
            <a:endParaRPr lang="en-US" sz="1400" dirty="0"/>
          </a:p>
        </p:txBody>
      </p:sp>
      <p:sp>
        <p:nvSpPr>
          <p:cNvPr id="26" name="Text 22"/>
          <p:cNvSpPr txBox="1"/>
          <p:nvPr/>
        </p:nvSpPr>
        <p:spPr>
          <a:xfrm>
            <a:off x="8046720" y="4297680"/>
            <a:ext cx="3413455" cy="960120"/>
          </a:xfrm>
          <a:prstGeom prst="rect">
            <a:avLst/>
          </a:prstGeom>
          <a:noFill/>
          <a:ln/>
        </p:spPr>
        <p:txBody>
          <a:bodyPr wrap="square" lIns="0" tIns="0" rIns="0" bIns="0" rtlCol="0" anchor="ctr"/>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Reforzar el uso de la plataforma en clientes Pequeños y Medianos: más sesiones se asocian a mayor MRR.</a:t>
            </a:r>
            <a:endParaRPr lang="en-US" sz="1250" dirty="0"/>
          </a:p>
        </p:txBody>
      </p:sp>
      <p:sp>
        <p:nvSpPr>
          <p:cNvPr id="27" name="Shape 23"/>
          <p:cNvSpPr/>
          <p:nvPr/>
        </p:nvSpPr>
        <p:spPr>
          <a:xfrm>
            <a:off x="7269480" y="5440680"/>
            <a:ext cx="4373575" cy="886968"/>
          </a:xfrm>
          <a:prstGeom prst="rect">
            <a:avLst/>
          </a:prstGeom>
          <a:solidFill>
            <a:srgbClr val="FDF0D5"/>
          </a:solidFill>
          <a:ln w="12700">
            <a:solidFill>
              <a:srgbClr val="F2A93B"/>
            </a:solidFill>
            <a:prstDash val="solid"/>
          </a:ln>
        </p:spPr>
      </p:sp>
      <p:sp>
        <p:nvSpPr>
          <p:cNvPr id="28" name="Text 24"/>
          <p:cNvSpPr txBox="1"/>
          <p:nvPr/>
        </p:nvSpPr>
        <p:spPr>
          <a:xfrm>
            <a:off x="7498080" y="5440680"/>
            <a:ext cx="3916375" cy="886968"/>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Asociaciones, no causas: </a:t>
            </a:r>
            <a:pPr indent="0" marL="0">
              <a:buNone/>
            </a:pPr>
            <a:r>
              <a:rPr lang="en-US" sz="1300" dirty="0">
                <a:solidFill>
                  <a:srgbClr val="1F2A2E"/>
                </a:solidFill>
                <a:latin typeface="Calibri" pitchFamily="34" charset="0"/>
                <a:ea typeface="Calibri" pitchFamily="34" charset="-122"/>
                <a:cs typeface="Calibri" pitchFamily="34" charset="-120"/>
              </a:rPr>
              <a:t>los efectos muestran qué se mueve junto al MRR, no qué lo provoca.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2026-10-01T21:52:30Z</dcterms:created>
  <dcterms:modified xsi:type="dcterms:W3CDTF">2026-10-01T21:52:30Z</dcterms:modified>
</cp:coreProperties>
</file>